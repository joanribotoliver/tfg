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8" r:id="rId3"/>
    <p:sldId id="259" r:id="rId4"/>
    <p:sldId id="260" r:id="rId5"/>
    <p:sldId id="269" r:id="rId6"/>
    <p:sldId id="270" r:id="rId7"/>
    <p:sldId id="262" r:id="rId8"/>
    <p:sldId id="263" r:id="rId9"/>
    <p:sldId id="327" r:id="rId10"/>
    <p:sldId id="328" r:id="rId11"/>
    <p:sldId id="264" r:id="rId12"/>
    <p:sldId id="299" r:id="rId13"/>
    <p:sldId id="278" r:id="rId14"/>
    <p:sldId id="311" r:id="rId15"/>
    <p:sldId id="313" r:id="rId16"/>
    <p:sldId id="293" r:id="rId17"/>
    <p:sldId id="315" r:id="rId18"/>
    <p:sldId id="323" r:id="rId19"/>
    <p:sldId id="326" r:id="rId20"/>
    <p:sldId id="322" r:id="rId21"/>
    <p:sldId id="324" r:id="rId22"/>
    <p:sldId id="265" r:id="rId23"/>
    <p:sldId id="267" r:id="rId24"/>
    <p:sldId id="261" r:id="rId25"/>
    <p:sldId id="271" r:id="rId26"/>
    <p:sldId id="272" r:id="rId27"/>
    <p:sldId id="300" r:id="rId28"/>
    <p:sldId id="301" r:id="rId29"/>
    <p:sldId id="312" r:id="rId30"/>
    <p:sldId id="325" r:id="rId31"/>
    <p:sldId id="321" r:id="rId3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279D3B-4555-D547-83EC-6215D6673266}">
          <p14:sldIdLst/>
        </p14:section>
        <p14:section name="Introducció" id="{18CD981F-803A-2C4A-BBBC-60E3F08027CA}">
          <p14:sldIdLst>
            <p14:sldId id="256"/>
            <p14:sldId id="268"/>
            <p14:sldId id="259"/>
          </p14:sldIdLst>
        </p14:section>
        <p14:section name="Equacions" id="{DEF98538-EB1A-4743-9B60-4ED95254A031}">
          <p14:sldIdLst>
            <p14:sldId id="260"/>
            <p14:sldId id="269"/>
            <p14:sldId id="270"/>
            <p14:sldId id="262"/>
          </p14:sldIdLst>
        </p14:section>
        <p14:section name="Mètode" id="{4892D777-EFDE-DD4C-9AC3-6940543C1A50}">
          <p14:sldIdLst>
            <p14:sldId id="263"/>
            <p14:sldId id="327"/>
            <p14:sldId id="328"/>
          </p14:sldIdLst>
        </p14:section>
        <p14:section name="Resultats" id="{ABDD66DB-5581-4146-AA1F-C6ACF556A88B}">
          <p14:sldIdLst>
            <p14:sldId id="264"/>
            <p14:sldId id="299"/>
            <p14:sldId id="278"/>
            <p14:sldId id="311"/>
            <p14:sldId id="313"/>
            <p14:sldId id="293"/>
            <p14:sldId id="315"/>
            <p14:sldId id="323"/>
            <p14:sldId id="326"/>
            <p14:sldId id="322"/>
            <p14:sldId id="324"/>
          </p14:sldIdLst>
        </p14:section>
        <p14:section name="Conclusions" id="{6889C8EA-6F92-FC44-BA4B-61CD3338DA19}">
          <p14:sldIdLst>
            <p14:sldId id="265"/>
          </p14:sldIdLst>
        </p14:section>
        <p14:section name="Final" id="{2347ADE1-C064-1B46-8680-5BE91E9FD489}">
          <p14:sldIdLst>
            <p14:sldId id="267"/>
            <p14:sldId id="261"/>
            <p14:sldId id="271"/>
            <p14:sldId id="272"/>
            <p14:sldId id="300"/>
            <p14:sldId id="301"/>
            <p14:sldId id="312"/>
            <p14:sldId id="325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58C34-AA55-5846-B234-64CF704AB23E}" v="963" dt="2025-06-18T21:40:22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195"/>
    <p:restoredTop sz="94946"/>
  </p:normalViewPr>
  <p:slideViewPr>
    <p:cSldViewPr snapToGrid="0">
      <p:cViewPr varScale="1">
        <p:scale>
          <a:sx n="97" d="100"/>
          <a:sy n="97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7A85E5-83DA-4B5A-9010-BA0447B7252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C78270-21B0-4092-BBD4-AAD92D2D809B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1. </a:t>
          </a:r>
          <a:r>
            <a:rPr lang="en-US" dirty="0" err="1">
              <a:latin typeface="LM Roman 10" pitchFamily="2" charset="77"/>
            </a:rPr>
            <a:t>Simplificació</a:t>
          </a:r>
          <a:r>
            <a:rPr lang="en-US" dirty="0">
              <a:latin typeface="LM Roman 10" pitchFamily="2" charset="77"/>
            </a:rPr>
            <a:t> del </a:t>
          </a:r>
          <a:r>
            <a:rPr lang="en-US" dirty="0" err="1">
              <a:latin typeface="LM Roman 10" pitchFamily="2" charset="77"/>
            </a:rPr>
            <a:t>sistema</a:t>
          </a:r>
          <a:endParaRPr lang="en-US" dirty="0">
            <a:latin typeface="LM Roman 10" pitchFamily="2" charset="77"/>
          </a:endParaRPr>
        </a:p>
      </dgm:t>
    </dgm:pt>
    <dgm:pt modelId="{97C5DF03-BB6F-4948-932D-2855B5A267E6}" type="parTrans" cxnId="{6CAA3C07-5F33-4088-83F1-EB08DEB6B49C}">
      <dgm:prSet/>
      <dgm:spPr/>
      <dgm:t>
        <a:bodyPr/>
        <a:lstStyle/>
        <a:p>
          <a:endParaRPr lang="en-US"/>
        </a:p>
      </dgm:t>
    </dgm:pt>
    <dgm:pt modelId="{44D3814F-4B45-4857-BFBE-1BCE6D87553C}" type="sibTrans" cxnId="{6CAA3C07-5F33-4088-83F1-EB08DEB6B49C}">
      <dgm:prSet/>
      <dgm:spPr/>
      <dgm:t>
        <a:bodyPr/>
        <a:lstStyle/>
        <a:p>
          <a:endParaRPr lang="en-US"/>
        </a:p>
      </dgm:t>
    </dgm:pt>
    <dgm:pt modelId="{5B11A63D-923D-467C-8484-0A78D1B54CA7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2. </a:t>
          </a:r>
          <a:r>
            <a:rPr lang="en-US" dirty="0" err="1">
              <a:latin typeface="LM Roman 10" pitchFamily="2" charset="77"/>
            </a:rPr>
            <a:t>Equacions</a:t>
          </a:r>
          <a:r>
            <a:rPr lang="en-US" dirty="0">
              <a:latin typeface="LM Roman 10" pitchFamily="2" charset="77"/>
            </a:rPr>
            <a:t> MHD ideal</a:t>
          </a:r>
        </a:p>
      </dgm:t>
    </dgm:pt>
    <dgm:pt modelId="{604375B1-54CB-41E3-AD0E-380DAAC49B2C}" type="parTrans" cxnId="{91A3FC2F-E842-41EF-AA39-A5F4EB043102}">
      <dgm:prSet/>
      <dgm:spPr/>
      <dgm:t>
        <a:bodyPr/>
        <a:lstStyle/>
        <a:p>
          <a:endParaRPr lang="en-US"/>
        </a:p>
      </dgm:t>
    </dgm:pt>
    <dgm:pt modelId="{AEF31526-2D64-472B-AC49-439FED0AA4C3}" type="sibTrans" cxnId="{91A3FC2F-E842-41EF-AA39-A5F4EB043102}">
      <dgm:prSet/>
      <dgm:spPr/>
      <dgm:t>
        <a:bodyPr/>
        <a:lstStyle/>
        <a:p>
          <a:endParaRPr lang="en-US"/>
        </a:p>
      </dgm:t>
    </dgm:pt>
    <dgm:pt modelId="{80B9C50D-FE26-4AA2-8875-654D0A79C87B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3. Ones MHD </a:t>
          </a:r>
          <a:r>
            <a:rPr lang="en-US" dirty="0" err="1">
              <a:latin typeface="LM Roman 10" pitchFamily="2" charset="77"/>
            </a:rPr>
            <a:t>lineals</a:t>
          </a:r>
          <a:endParaRPr lang="en-US" dirty="0">
            <a:latin typeface="LM Roman 10" pitchFamily="2" charset="77"/>
          </a:endParaRPr>
        </a:p>
      </dgm:t>
    </dgm:pt>
    <dgm:pt modelId="{0AC33450-BCDA-4496-BA7C-789FEFE5150C}" type="parTrans" cxnId="{E8DB66B7-79EF-4471-9BBD-485FF993355B}">
      <dgm:prSet/>
      <dgm:spPr/>
      <dgm:t>
        <a:bodyPr/>
        <a:lstStyle/>
        <a:p>
          <a:endParaRPr lang="en-US"/>
        </a:p>
      </dgm:t>
    </dgm:pt>
    <dgm:pt modelId="{1ACBFFE5-CC8C-4FF0-8FE1-1D8EADDB9243}" type="sibTrans" cxnId="{E8DB66B7-79EF-4471-9BBD-485FF993355B}">
      <dgm:prSet/>
      <dgm:spPr/>
      <dgm:t>
        <a:bodyPr/>
        <a:lstStyle/>
        <a:p>
          <a:endParaRPr lang="en-US"/>
        </a:p>
      </dgm:t>
    </dgm:pt>
    <dgm:pt modelId="{1423201C-A1FB-4394-B68E-ED86746118EF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4. </a:t>
          </a:r>
          <a:r>
            <a:rPr lang="en-US" dirty="0" err="1">
              <a:latin typeface="LM Roman 10" pitchFamily="2" charset="77"/>
            </a:rPr>
            <a:t>Solucions</a:t>
          </a:r>
          <a:endParaRPr lang="en-US" dirty="0">
            <a:latin typeface="LM Roman 10" pitchFamily="2" charset="77"/>
          </a:endParaRPr>
        </a:p>
      </dgm:t>
    </dgm:pt>
    <dgm:pt modelId="{441E1F46-D4E4-4189-9E8B-A534CEE4809B}" type="parTrans" cxnId="{6B464819-A0E1-4394-8334-07A906ADA1FF}">
      <dgm:prSet/>
      <dgm:spPr/>
      <dgm:t>
        <a:bodyPr/>
        <a:lstStyle/>
        <a:p>
          <a:endParaRPr lang="en-US"/>
        </a:p>
      </dgm:t>
    </dgm:pt>
    <dgm:pt modelId="{F3ACC490-2924-4FD1-A678-8B0835B80EE3}" type="sibTrans" cxnId="{6B464819-A0E1-4394-8334-07A906ADA1FF}">
      <dgm:prSet/>
      <dgm:spPr/>
      <dgm:t>
        <a:bodyPr/>
        <a:lstStyle/>
        <a:p>
          <a:endParaRPr lang="en-US"/>
        </a:p>
      </dgm:t>
    </dgm:pt>
    <dgm:pt modelId="{C2CF8C60-8E8B-44A5-9E22-FEE91A6BBD6C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5. </a:t>
          </a:r>
          <a:r>
            <a:rPr lang="en-US" dirty="0" err="1">
              <a:latin typeface="LM Roman 10" pitchFamily="2" charset="77"/>
            </a:rPr>
            <a:t>Mètode</a:t>
          </a:r>
          <a:endParaRPr lang="en-US" dirty="0">
            <a:latin typeface="LM Roman 10" pitchFamily="2" charset="77"/>
          </a:endParaRPr>
        </a:p>
      </dgm:t>
    </dgm:pt>
    <dgm:pt modelId="{FAD647F7-AA07-44F5-8FFB-E2EE4D32A02F}" type="parTrans" cxnId="{843355F1-21D3-4240-A24F-F1484CD64E06}">
      <dgm:prSet/>
      <dgm:spPr/>
      <dgm:t>
        <a:bodyPr/>
        <a:lstStyle/>
        <a:p>
          <a:endParaRPr lang="en-US"/>
        </a:p>
      </dgm:t>
    </dgm:pt>
    <dgm:pt modelId="{9833871D-13F5-4B1B-8FA1-C8329F925393}" type="sibTrans" cxnId="{843355F1-21D3-4240-A24F-F1484CD64E06}">
      <dgm:prSet/>
      <dgm:spPr/>
      <dgm:t>
        <a:bodyPr/>
        <a:lstStyle/>
        <a:p>
          <a:endParaRPr lang="en-US"/>
        </a:p>
      </dgm:t>
    </dgm:pt>
    <dgm:pt modelId="{36043DB3-B409-41EA-824B-4483E8AE97F2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6. </a:t>
          </a:r>
          <a:r>
            <a:rPr lang="en-US" dirty="0" err="1">
              <a:latin typeface="LM Roman 10" pitchFamily="2" charset="77"/>
            </a:rPr>
            <a:t>Anàlisi</a:t>
          </a:r>
          <a:r>
            <a:rPr lang="en-US" dirty="0">
              <a:latin typeface="LM Roman 10" pitchFamily="2" charset="77"/>
            </a:rPr>
            <a:t> de </a:t>
          </a:r>
          <a:r>
            <a:rPr lang="en-US" dirty="0" err="1">
              <a:latin typeface="LM Roman 10" pitchFamily="2" charset="77"/>
            </a:rPr>
            <a:t>resultats</a:t>
          </a:r>
          <a:endParaRPr lang="en-US" dirty="0">
            <a:latin typeface="LM Roman 10" pitchFamily="2" charset="77"/>
          </a:endParaRPr>
        </a:p>
      </dgm:t>
    </dgm:pt>
    <dgm:pt modelId="{29039B8B-42ED-423D-BDA2-1E8137F870EE}" type="parTrans" cxnId="{B76BF3ED-3E25-4EF7-B44E-7FA3F361D0CE}">
      <dgm:prSet/>
      <dgm:spPr/>
      <dgm:t>
        <a:bodyPr/>
        <a:lstStyle/>
        <a:p>
          <a:endParaRPr lang="en-US"/>
        </a:p>
      </dgm:t>
    </dgm:pt>
    <dgm:pt modelId="{D99918E1-E0CE-46C3-8F93-4B033F680744}" type="sibTrans" cxnId="{B76BF3ED-3E25-4EF7-B44E-7FA3F361D0CE}">
      <dgm:prSet/>
      <dgm:spPr/>
      <dgm:t>
        <a:bodyPr/>
        <a:lstStyle/>
        <a:p>
          <a:endParaRPr lang="en-US"/>
        </a:p>
      </dgm:t>
    </dgm:pt>
    <dgm:pt modelId="{FE9302C3-9230-4D32-8E78-684C598B5812}">
      <dgm:prSet/>
      <dgm:spPr/>
      <dgm:t>
        <a:bodyPr/>
        <a:lstStyle/>
        <a:p>
          <a:r>
            <a:rPr lang="en-US" dirty="0">
              <a:latin typeface="LM Roman 10" pitchFamily="2" charset="77"/>
            </a:rPr>
            <a:t>7. Conclusions</a:t>
          </a:r>
        </a:p>
      </dgm:t>
    </dgm:pt>
    <dgm:pt modelId="{6EBC2B3A-8552-4A10-A9E8-FF8261CB1385}" type="parTrans" cxnId="{D662E3D5-97F7-4891-9E43-710724AC08F3}">
      <dgm:prSet/>
      <dgm:spPr/>
      <dgm:t>
        <a:bodyPr/>
        <a:lstStyle/>
        <a:p>
          <a:endParaRPr lang="en-US"/>
        </a:p>
      </dgm:t>
    </dgm:pt>
    <dgm:pt modelId="{B5B8315B-4609-4F73-805E-F9DB548C4A66}" type="sibTrans" cxnId="{D662E3D5-97F7-4891-9E43-710724AC08F3}">
      <dgm:prSet/>
      <dgm:spPr/>
      <dgm:t>
        <a:bodyPr/>
        <a:lstStyle/>
        <a:p>
          <a:endParaRPr lang="en-US"/>
        </a:p>
      </dgm:t>
    </dgm:pt>
    <dgm:pt modelId="{C0081F30-9BBB-5D4B-9B75-CBCC324E6A82}" type="pres">
      <dgm:prSet presAssocID="{EF7A85E5-83DA-4B5A-9010-BA0447B72525}" presName="vert0" presStyleCnt="0">
        <dgm:presLayoutVars>
          <dgm:dir/>
          <dgm:animOne val="branch"/>
          <dgm:animLvl val="lvl"/>
        </dgm:presLayoutVars>
      </dgm:prSet>
      <dgm:spPr/>
    </dgm:pt>
    <dgm:pt modelId="{E0BA0D05-FB51-CD4C-B6FC-8C085DE5EB08}" type="pres">
      <dgm:prSet presAssocID="{F4C78270-21B0-4092-BBD4-AAD92D2D809B}" presName="thickLine" presStyleLbl="alignNode1" presStyleIdx="0" presStyleCnt="7"/>
      <dgm:spPr/>
    </dgm:pt>
    <dgm:pt modelId="{3A46A3EA-CDE5-6B4F-962B-33FFCBA33BF8}" type="pres">
      <dgm:prSet presAssocID="{F4C78270-21B0-4092-BBD4-AAD92D2D809B}" presName="horz1" presStyleCnt="0"/>
      <dgm:spPr/>
    </dgm:pt>
    <dgm:pt modelId="{D42F101D-4DE9-F543-B4BD-571553EB3A99}" type="pres">
      <dgm:prSet presAssocID="{F4C78270-21B0-4092-BBD4-AAD92D2D809B}" presName="tx1" presStyleLbl="revTx" presStyleIdx="0" presStyleCnt="7"/>
      <dgm:spPr/>
    </dgm:pt>
    <dgm:pt modelId="{B8F33DA8-0069-FB4D-B75B-5EB30817BF34}" type="pres">
      <dgm:prSet presAssocID="{F4C78270-21B0-4092-BBD4-AAD92D2D809B}" presName="vert1" presStyleCnt="0"/>
      <dgm:spPr/>
    </dgm:pt>
    <dgm:pt modelId="{B187BD64-657F-8341-91E1-3ACA09A9E7CE}" type="pres">
      <dgm:prSet presAssocID="{5B11A63D-923D-467C-8484-0A78D1B54CA7}" presName="thickLine" presStyleLbl="alignNode1" presStyleIdx="1" presStyleCnt="7"/>
      <dgm:spPr/>
    </dgm:pt>
    <dgm:pt modelId="{673C941A-01F0-DB4A-82E1-6ECA6A812CA5}" type="pres">
      <dgm:prSet presAssocID="{5B11A63D-923D-467C-8484-0A78D1B54CA7}" presName="horz1" presStyleCnt="0"/>
      <dgm:spPr/>
    </dgm:pt>
    <dgm:pt modelId="{D6B687D3-1D21-2A4E-BCC2-C2BA04A1AEC4}" type="pres">
      <dgm:prSet presAssocID="{5B11A63D-923D-467C-8484-0A78D1B54CA7}" presName="tx1" presStyleLbl="revTx" presStyleIdx="1" presStyleCnt="7"/>
      <dgm:spPr/>
    </dgm:pt>
    <dgm:pt modelId="{575A2901-440F-FE4A-A9D7-79D53FAA2F07}" type="pres">
      <dgm:prSet presAssocID="{5B11A63D-923D-467C-8484-0A78D1B54CA7}" presName="vert1" presStyleCnt="0"/>
      <dgm:spPr/>
    </dgm:pt>
    <dgm:pt modelId="{BABAFAD7-80B2-BD4C-9964-97F77560FD38}" type="pres">
      <dgm:prSet presAssocID="{80B9C50D-FE26-4AA2-8875-654D0A79C87B}" presName="thickLine" presStyleLbl="alignNode1" presStyleIdx="2" presStyleCnt="7"/>
      <dgm:spPr/>
    </dgm:pt>
    <dgm:pt modelId="{6200B107-F4AD-0844-97A6-5D291E53BADA}" type="pres">
      <dgm:prSet presAssocID="{80B9C50D-FE26-4AA2-8875-654D0A79C87B}" presName="horz1" presStyleCnt="0"/>
      <dgm:spPr/>
    </dgm:pt>
    <dgm:pt modelId="{F71A0FDB-E9FC-144C-9D2B-D57E52823192}" type="pres">
      <dgm:prSet presAssocID="{80B9C50D-FE26-4AA2-8875-654D0A79C87B}" presName="tx1" presStyleLbl="revTx" presStyleIdx="2" presStyleCnt="7"/>
      <dgm:spPr/>
    </dgm:pt>
    <dgm:pt modelId="{51B2F071-DFF7-7E46-83C2-0E489CBA2B86}" type="pres">
      <dgm:prSet presAssocID="{80B9C50D-FE26-4AA2-8875-654D0A79C87B}" presName="vert1" presStyleCnt="0"/>
      <dgm:spPr/>
    </dgm:pt>
    <dgm:pt modelId="{26FDA98F-42A2-F44E-A0FB-FE848C3CED04}" type="pres">
      <dgm:prSet presAssocID="{1423201C-A1FB-4394-B68E-ED86746118EF}" presName="thickLine" presStyleLbl="alignNode1" presStyleIdx="3" presStyleCnt="7"/>
      <dgm:spPr/>
    </dgm:pt>
    <dgm:pt modelId="{EB3BBF2F-1A33-7641-8137-3C2FFA6BAEE3}" type="pres">
      <dgm:prSet presAssocID="{1423201C-A1FB-4394-B68E-ED86746118EF}" presName="horz1" presStyleCnt="0"/>
      <dgm:spPr/>
    </dgm:pt>
    <dgm:pt modelId="{1E555451-C99F-C544-B639-705206BD2BFE}" type="pres">
      <dgm:prSet presAssocID="{1423201C-A1FB-4394-B68E-ED86746118EF}" presName="tx1" presStyleLbl="revTx" presStyleIdx="3" presStyleCnt="7"/>
      <dgm:spPr/>
    </dgm:pt>
    <dgm:pt modelId="{F10F3857-D3A8-3743-8029-123D99B8E32A}" type="pres">
      <dgm:prSet presAssocID="{1423201C-A1FB-4394-B68E-ED86746118EF}" presName="vert1" presStyleCnt="0"/>
      <dgm:spPr/>
    </dgm:pt>
    <dgm:pt modelId="{56D7B643-C085-5740-81DB-DD50550131EA}" type="pres">
      <dgm:prSet presAssocID="{C2CF8C60-8E8B-44A5-9E22-FEE91A6BBD6C}" presName="thickLine" presStyleLbl="alignNode1" presStyleIdx="4" presStyleCnt="7"/>
      <dgm:spPr/>
    </dgm:pt>
    <dgm:pt modelId="{AE737BD8-FBFF-CA40-AA10-881FE3616701}" type="pres">
      <dgm:prSet presAssocID="{C2CF8C60-8E8B-44A5-9E22-FEE91A6BBD6C}" presName="horz1" presStyleCnt="0"/>
      <dgm:spPr/>
    </dgm:pt>
    <dgm:pt modelId="{E1BC42B5-1F62-7544-A806-EFDE9A98CEBC}" type="pres">
      <dgm:prSet presAssocID="{C2CF8C60-8E8B-44A5-9E22-FEE91A6BBD6C}" presName="tx1" presStyleLbl="revTx" presStyleIdx="4" presStyleCnt="7"/>
      <dgm:spPr/>
    </dgm:pt>
    <dgm:pt modelId="{FBBB9C3C-D779-1149-94E6-511D19F25AE9}" type="pres">
      <dgm:prSet presAssocID="{C2CF8C60-8E8B-44A5-9E22-FEE91A6BBD6C}" presName="vert1" presStyleCnt="0"/>
      <dgm:spPr/>
    </dgm:pt>
    <dgm:pt modelId="{692AA29B-AF05-4348-BF66-1CDABCE74972}" type="pres">
      <dgm:prSet presAssocID="{36043DB3-B409-41EA-824B-4483E8AE97F2}" presName="thickLine" presStyleLbl="alignNode1" presStyleIdx="5" presStyleCnt="7"/>
      <dgm:spPr/>
    </dgm:pt>
    <dgm:pt modelId="{9C00715C-E877-C546-ABBD-CF65864411F4}" type="pres">
      <dgm:prSet presAssocID="{36043DB3-B409-41EA-824B-4483E8AE97F2}" presName="horz1" presStyleCnt="0"/>
      <dgm:spPr/>
    </dgm:pt>
    <dgm:pt modelId="{75CD400A-2FEF-9444-957D-0BED433CAB97}" type="pres">
      <dgm:prSet presAssocID="{36043DB3-B409-41EA-824B-4483E8AE97F2}" presName="tx1" presStyleLbl="revTx" presStyleIdx="5" presStyleCnt="7"/>
      <dgm:spPr/>
    </dgm:pt>
    <dgm:pt modelId="{7DAA9E85-F172-A04D-BFE5-8FA1A9FF2FA9}" type="pres">
      <dgm:prSet presAssocID="{36043DB3-B409-41EA-824B-4483E8AE97F2}" presName="vert1" presStyleCnt="0"/>
      <dgm:spPr/>
    </dgm:pt>
    <dgm:pt modelId="{52604F4E-D75F-0749-9CCC-0F1DB8233B36}" type="pres">
      <dgm:prSet presAssocID="{FE9302C3-9230-4D32-8E78-684C598B5812}" presName="thickLine" presStyleLbl="alignNode1" presStyleIdx="6" presStyleCnt="7"/>
      <dgm:spPr/>
    </dgm:pt>
    <dgm:pt modelId="{BCA675CB-F9B4-2F43-9835-386022DC2252}" type="pres">
      <dgm:prSet presAssocID="{FE9302C3-9230-4D32-8E78-684C598B5812}" presName="horz1" presStyleCnt="0"/>
      <dgm:spPr/>
    </dgm:pt>
    <dgm:pt modelId="{4C1E516C-17C1-854F-BEF0-EA9072BC7C9C}" type="pres">
      <dgm:prSet presAssocID="{FE9302C3-9230-4D32-8E78-684C598B5812}" presName="tx1" presStyleLbl="revTx" presStyleIdx="6" presStyleCnt="7"/>
      <dgm:spPr/>
    </dgm:pt>
    <dgm:pt modelId="{9370CEF0-380A-9447-A153-B27D58C40282}" type="pres">
      <dgm:prSet presAssocID="{FE9302C3-9230-4D32-8E78-684C598B5812}" presName="vert1" presStyleCnt="0"/>
      <dgm:spPr/>
    </dgm:pt>
  </dgm:ptLst>
  <dgm:cxnLst>
    <dgm:cxn modelId="{6CAA3C07-5F33-4088-83F1-EB08DEB6B49C}" srcId="{EF7A85E5-83DA-4B5A-9010-BA0447B72525}" destId="{F4C78270-21B0-4092-BBD4-AAD92D2D809B}" srcOrd="0" destOrd="0" parTransId="{97C5DF03-BB6F-4948-932D-2855B5A267E6}" sibTransId="{44D3814F-4B45-4857-BFBE-1BCE6D87553C}"/>
    <dgm:cxn modelId="{6B464819-A0E1-4394-8334-07A906ADA1FF}" srcId="{EF7A85E5-83DA-4B5A-9010-BA0447B72525}" destId="{1423201C-A1FB-4394-B68E-ED86746118EF}" srcOrd="3" destOrd="0" parTransId="{441E1F46-D4E4-4189-9E8B-A534CEE4809B}" sibTransId="{F3ACC490-2924-4FD1-A678-8B0835B80EE3}"/>
    <dgm:cxn modelId="{91A3FC2F-E842-41EF-AA39-A5F4EB043102}" srcId="{EF7A85E5-83DA-4B5A-9010-BA0447B72525}" destId="{5B11A63D-923D-467C-8484-0A78D1B54CA7}" srcOrd="1" destOrd="0" parTransId="{604375B1-54CB-41E3-AD0E-380DAAC49B2C}" sibTransId="{AEF31526-2D64-472B-AC49-439FED0AA4C3}"/>
    <dgm:cxn modelId="{B416A564-2DAD-9641-8583-965F950A258C}" type="presOf" srcId="{FE9302C3-9230-4D32-8E78-684C598B5812}" destId="{4C1E516C-17C1-854F-BEF0-EA9072BC7C9C}" srcOrd="0" destOrd="0" presId="urn:microsoft.com/office/officeart/2008/layout/LinedList"/>
    <dgm:cxn modelId="{194E3165-B9C2-2F49-B4B8-69EBE26C2CB1}" type="presOf" srcId="{1423201C-A1FB-4394-B68E-ED86746118EF}" destId="{1E555451-C99F-C544-B639-705206BD2BFE}" srcOrd="0" destOrd="0" presId="urn:microsoft.com/office/officeart/2008/layout/LinedList"/>
    <dgm:cxn modelId="{3E00F974-B906-A046-826E-D77283BF0545}" type="presOf" srcId="{F4C78270-21B0-4092-BBD4-AAD92D2D809B}" destId="{D42F101D-4DE9-F543-B4BD-571553EB3A99}" srcOrd="0" destOrd="0" presId="urn:microsoft.com/office/officeart/2008/layout/LinedList"/>
    <dgm:cxn modelId="{28246498-7190-9A4E-9695-FC2EF38C1B12}" type="presOf" srcId="{5B11A63D-923D-467C-8484-0A78D1B54CA7}" destId="{D6B687D3-1D21-2A4E-BCC2-C2BA04A1AEC4}" srcOrd="0" destOrd="0" presId="urn:microsoft.com/office/officeart/2008/layout/LinedList"/>
    <dgm:cxn modelId="{E8DB66B7-79EF-4471-9BBD-485FF993355B}" srcId="{EF7A85E5-83DA-4B5A-9010-BA0447B72525}" destId="{80B9C50D-FE26-4AA2-8875-654D0A79C87B}" srcOrd="2" destOrd="0" parTransId="{0AC33450-BCDA-4496-BA7C-789FEFE5150C}" sibTransId="{1ACBFFE5-CC8C-4FF0-8FE1-1D8EADDB9243}"/>
    <dgm:cxn modelId="{F56A19B9-053C-BF48-BEED-C8FA8358684A}" type="presOf" srcId="{36043DB3-B409-41EA-824B-4483E8AE97F2}" destId="{75CD400A-2FEF-9444-957D-0BED433CAB97}" srcOrd="0" destOrd="0" presId="urn:microsoft.com/office/officeart/2008/layout/LinedList"/>
    <dgm:cxn modelId="{AB6C19D4-3E4D-D944-815E-EB179FF3B6A2}" type="presOf" srcId="{C2CF8C60-8E8B-44A5-9E22-FEE91A6BBD6C}" destId="{E1BC42B5-1F62-7544-A806-EFDE9A98CEBC}" srcOrd="0" destOrd="0" presId="urn:microsoft.com/office/officeart/2008/layout/LinedList"/>
    <dgm:cxn modelId="{D662E3D5-97F7-4891-9E43-710724AC08F3}" srcId="{EF7A85E5-83DA-4B5A-9010-BA0447B72525}" destId="{FE9302C3-9230-4D32-8E78-684C598B5812}" srcOrd="6" destOrd="0" parTransId="{6EBC2B3A-8552-4A10-A9E8-FF8261CB1385}" sibTransId="{B5B8315B-4609-4F73-805E-F9DB548C4A66}"/>
    <dgm:cxn modelId="{9BCD03DB-30E2-DE45-AFBE-B0B6E9464862}" type="presOf" srcId="{80B9C50D-FE26-4AA2-8875-654D0A79C87B}" destId="{F71A0FDB-E9FC-144C-9D2B-D57E52823192}" srcOrd="0" destOrd="0" presId="urn:microsoft.com/office/officeart/2008/layout/LinedList"/>
    <dgm:cxn modelId="{0031BBEC-ED47-804A-A0F8-2D7F38CD7AEA}" type="presOf" srcId="{EF7A85E5-83DA-4B5A-9010-BA0447B72525}" destId="{C0081F30-9BBB-5D4B-9B75-CBCC324E6A82}" srcOrd="0" destOrd="0" presId="urn:microsoft.com/office/officeart/2008/layout/LinedList"/>
    <dgm:cxn modelId="{B76BF3ED-3E25-4EF7-B44E-7FA3F361D0CE}" srcId="{EF7A85E5-83DA-4B5A-9010-BA0447B72525}" destId="{36043DB3-B409-41EA-824B-4483E8AE97F2}" srcOrd="5" destOrd="0" parTransId="{29039B8B-42ED-423D-BDA2-1E8137F870EE}" sibTransId="{D99918E1-E0CE-46C3-8F93-4B033F680744}"/>
    <dgm:cxn modelId="{843355F1-21D3-4240-A24F-F1484CD64E06}" srcId="{EF7A85E5-83DA-4B5A-9010-BA0447B72525}" destId="{C2CF8C60-8E8B-44A5-9E22-FEE91A6BBD6C}" srcOrd="4" destOrd="0" parTransId="{FAD647F7-AA07-44F5-8FFB-E2EE4D32A02F}" sibTransId="{9833871D-13F5-4B1B-8FA1-C8329F925393}"/>
    <dgm:cxn modelId="{BE2FFC47-DDF8-BD41-A498-3D61A0D75AA7}" type="presParOf" srcId="{C0081F30-9BBB-5D4B-9B75-CBCC324E6A82}" destId="{E0BA0D05-FB51-CD4C-B6FC-8C085DE5EB08}" srcOrd="0" destOrd="0" presId="urn:microsoft.com/office/officeart/2008/layout/LinedList"/>
    <dgm:cxn modelId="{72E544DB-A1AC-2D47-8FF8-1AAB27D1B6A2}" type="presParOf" srcId="{C0081F30-9BBB-5D4B-9B75-CBCC324E6A82}" destId="{3A46A3EA-CDE5-6B4F-962B-33FFCBA33BF8}" srcOrd="1" destOrd="0" presId="urn:microsoft.com/office/officeart/2008/layout/LinedList"/>
    <dgm:cxn modelId="{752055E1-575C-144E-9C6E-99DA23D3455D}" type="presParOf" srcId="{3A46A3EA-CDE5-6B4F-962B-33FFCBA33BF8}" destId="{D42F101D-4DE9-F543-B4BD-571553EB3A99}" srcOrd="0" destOrd="0" presId="urn:microsoft.com/office/officeart/2008/layout/LinedList"/>
    <dgm:cxn modelId="{A80764CC-9C81-3C4A-81AA-20F3CDB99EB1}" type="presParOf" srcId="{3A46A3EA-CDE5-6B4F-962B-33FFCBA33BF8}" destId="{B8F33DA8-0069-FB4D-B75B-5EB30817BF34}" srcOrd="1" destOrd="0" presId="urn:microsoft.com/office/officeart/2008/layout/LinedList"/>
    <dgm:cxn modelId="{B5B75EE5-64E8-0344-B9FC-723EF367BD50}" type="presParOf" srcId="{C0081F30-9BBB-5D4B-9B75-CBCC324E6A82}" destId="{B187BD64-657F-8341-91E1-3ACA09A9E7CE}" srcOrd="2" destOrd="0" presId="urn:microsoft.com/office/officeart/2008/layout/LinedList"/>
    <dgm:cxn modelId="{DC8EA402-DF1E-AF45-BB9E-BAB6268530C1}" type="presParOf" srcId="{C0081F30-9BBB-5D4B-9B75-CBCC324E6A82}" destId="{673C941A-01F0-DB4A-82E1-6ECA6A812CA5}" srcOrd="3" destOrd="0" presId="urn:microsoft.com/office/officeart/2008/layout/LinedList"/>
    <dgm:cxn modelId="{AE724E73-6319-CE4C-A227-585BBDC2709A}" type="presParOf" srcId="{673C941A-01F0-DB4A-82E1-6ECA6A812CA5}" destId="{D6B687D3-1D21-2A4E-BCC2-C2BA04A1AEC4}" srcOrd="0" destOrd="0" presId="urn:microsoft.com/office/officeart/2008/layout/LinedList"/>
    <dgm:cxn modelId="{38CE46FE-016B-2741-B1C2-0ED29E0062C2}" type="presParOf" srcId="{673C941A-01F0-DB4A-82E1-6ECA6A812CA5}" destId="{575A2901-440F-FE4A-A9D7-79D53FAA2F07}" srcOrd="1" destOrd="0" presId="urn:microsoft.com/office/officeart/2008/layout/LinedList"/>
    <dgm:cxn modelId="{1A73A47F-C476-4C47-8DB2-1C7BAB77DC62}" type="presParOf" srcId="{C0081F30-9BBB-5D4B-9B75-CBCC324E6A82}" destId="{BABAFAD7-80B2-BD4C-9964-97F77560FD38}" srcOrd="4" destOrd="0" presId="urn:microsoft.com/office/officeart/2008/layout/LinedList"/>
    <dgm:cxn modelId="{03FE8074-8C8F-F04F-80D9-8B962D0D6016}" type="presParOf" srcId="{C0081F30-9BBB-5D4B-9B75-CBCC324E6A82}" destId="{6200B107-F4AD-0844-97A6-5D291E53BADA}" srcOrd="5" destOrd="0" presId="urn:microsoft.com/office/officeart/2008/layout/LinedList"/>
    <dgm:cxn modelId="{DB74169D-0396-5242-A789-B6C3530075B6}" type="presParOf" srcId="{6200B107-F4AD-0844-97A6-5D291E53BADA}" destId="{F71A0FDB-E9FC-144C-9D2B-D57E52823192}" srcOrd="0" destOrd="0" presId="urn:microsoft.com/office/officeart/2008/layout/LinedList"/>
    <dgm:cxn modelId="{5E864E42-255C-6E40-A518-58341D4F677E}" type="presParOf" srcId="{6200B107-F4AD-0844-97A6-5D291E53BADA}" destId="{51B2F071-DFF7-7E46-83C2-0E489CBA2B86}" srcOrd="1" destOrd="0" presId="urn:microsoft.com/office/officeart/2008/layout/LinedList"/>
    <dgm:cxn modelId="{EC6F0B76-BF2D-4D44-A93C-932D57D2D6EC}" type="presParOf" srcId="{C0081F30-9BBB-5D4B-9B75-CBCC324E6A82}" destId="{26FDA98F-42A2-F44E-A0FB-FE848C3CED04}" srcOrd="6" destOrd="0" presId="urn:microsoft.com/office/officeart/2008/layout/LinedList"/>
    <dgm:cxn modelId="{95AC1583-A12B-6043-86D4-23F3887B5300}" type="presParOf" srcId="{C0081F30-9BBB-5D4B-9B75-CBCC324E6A82}" destId="{EB3BBF2F-1A33-7641-8137-3C2FFA6BAEE3}" srcOrd="7" destOrd="0" presId="urn:microsoft.com/office/officeart/2008/layout/LinedList"/>
    <dgm:cxn modelId="{A7CA29FC-5271-374A-851F-3D1CC575ECD2}" type="presParOf" srcId="{EB3BBF2F-1A33-7641-8137-3C2FFA6BAEE3}" destId="{1E555451-C99F-C544-B639-705206BD2BFE}" srcOrd="0" destOrd="0" presId="urn:microsoft.com/office/officeart/2008/layout/LinedList"/>
    <dgm:cxn modelId="{5A315152-2E15-EA4A-B6B0-A734D9426D9A}" type="presParOf" srcId="{EB3BBF2F-1A33-7641-8137-3C2FFA6BAEE3}" destId="{F10F3857-D3A8-3743-8029-123D99B8E32A}" srcOrd="1" destOrd="0" presId="urn:microsoft.com/office/officeart/2008/layout/LinedList"/>
    <dgm:cxn modelId="{71E14312-06D7-9B4F-9B84-E011E21884CC}" type="presParOf" srcId="{C0081F30-9BBB-5D4B-9B75-CBCC324E6A82}" destId="{56D7B643-C085-5740-81DB-DD50550131EA}" srcOrd="8" destOrd="0" presId="urn:microsoft.com/office/officeart/2008/layout/LinedList"/>
    <dgm:cxn modelId="{01CE8E36-A75D-5D4D-AED8-D09C2E399A6C}" type="presParOf" srcId="{C0081F30-9BBB-5D4B-9B75-CBCC324E6A82}" destId="{AE737BD8-FBFF-CA40-AA10-881FE3616701}" srcOrd="9" destOrd="0" presId="urn:microsoft.com/office/officeart/2008/layout/LinedList"/>
    <dgm:cxn modelId="{54DD96C6-49D2-9744-88A8-019DF700F308}" type="presParOf" srcId="{AE737BD8-FBFF-CA40-AA10-881FE3616701}" destId="{E1BC42B5-1F62-7544-A806-EFDE9A98CEBC}" srcOrd="0" destOrd="0" presId="urn:microsoft.com/office/officeart/2008/layout/LinedList"/>
    <dgm:cxn modelId="{19B66D9B-7E18-2F47-90D5-A742E98AD4D9}" type="presParOf" srcId="{AE737BD8-FBFF-CA40-AA10-881FE3616701}" destId="{FBBB9C3C-D779-1149-94E6-511D19F25AE9}" srcOrd="1" destOrd="0" presId="urn:microsoft.com/office/officeart/2008/layout/LinedList"/>
    <dgm:cxn modelId="{578A9B3E-F0F8-C94E-B333-7D144D0341D3}" type="presParOf" srcId="{C0081F30-9BBB-5D4B-9B75-CBCC324E6A82}" destId="{692AA29B-AF05-4348-BF66-1CDABCE74972}" srcOrd="10" destOrd="0" presId="urn:microsoft.com/office/officeart/2008/layout/LinedList"/>
    <dgm:cxn modelId="{95028126-7A57-694D-916A-F7570B849C6B}" type="presParOf" srcId="{C0081F30-9BBB-5D4B-9B75-CBCC324E6A82}" destId="{9C00715C-E877-C546-ABBD-CF65864411F4}" srcOrd="11" destOrd="0" presId="urn:microsoft.com/office/officeart/2008/layout/LinedList"/>
    <dgm:cxn modelId="{06EE1395-04EC-B543-BC8C-A230377E8C08}" type="presParOf" srcId="{9C00715C-E877-C546-ABBD-CF65864411F4}" destId="{75CD400A-2FEF-9444-957D-0BED433CAB97}" srcOrd="0" destOrd="0" presId="urn:microsoft.com/office/officeart/2008/layout/LinedList"/>
    <dgm:cxn modelId="{DF58441A-84EF-7B4D-B9B5-AF42891D77BE}" type="presParOf" srcId="{9C00715C-E877-C546-ABBD-CF65864411F4}" destId="{7DAA9E85-F172-A04D-BFE5-8FA1A9FF2FA9}" srcOrd="1" destOrd="0" presId="urn:microsoft.com/office/officeart/2008/layout/LinedList"/>
    <dgm:cxn modelId="{83EA6FC1-58EB-734E-BC02-7B92DFC45378}" type="presParOf" srcId="{C0081F30-9BBB-5D4B-9B75-CBCC324E6A82}" destId="{52604F4E-D75F-0749-9CCC-0F1DB8233B36}" srcOrd="12" destOrd="0" presId="urn:microsoft.com/office/officeart/2008/layout/LinedList"/>
    <dgm:cxn modelId="{E76E1597-F15E-774E-9DA9-96942E16DBC1}" type="presParOf" srcId="{C0081F30-9BBB-5D4B-9B75-CBCC324E6A82}" destId="{BCA675CB-F9B4-2F43-9835-386022DC2252}" srcOrd="13" destOrd="0" presId="urn:microsoft.com/office/officeart/2008/layout/LinedList"/>
    <dgm:cxn modelId="{53425289-6D66-0F48-BB31-BFA7E901A668}" type="presParOf" srcId="{BCA675CB-F9B4-2F43-9835-386022DC2252}" destId="{4C1E516C-17C1-854F-BEF0-EA9072BC7C9C}" srcOrd="0" destOrd="0" presId="urn:microsoft.com/office/officeart/2008/layout/LinedList"/>
    <dgm:cxn modelId="{9F5F6C6A-DED9-D649-BD6A-F94AE9B4CBFE}" type="presParOf" srcId="{BCA675CB-F9B4-2F43-9835-386022DC2252}" destId="{9370CEF0-380A-9447-A153-B27D58C402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A0D05-FB51-CD4C-B6FC-8C085DE5EB08}">
      <dsp:nvSpPr>
        <dsp:cNvPr id="0" name=""/>
        <dsp:cNvSpPr/>
      </dsp:nvSpPr>
      <dsp:spPr>
        <a:xfrm>
          <a:off x="0" y="449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F101D-4DE9-F543-B4BD-571553EB3A99}">
      <dsp:nvSpPr>
        <dsp:cNvPr id="0" name=""/>
        <dsp:cNvSpPr/>
      </dsp:nvSpPr>
      <dsp:spPr>
        <a:xfrm>
          <a:off x="0" y="449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1. </a:t>
          </a:r>
          <a:r>
            <a:rPr lang="en-US" sz="2400" kern="1200" dirty="0" err="1">
              <a:latin typeface="LM Roman 10" pitchFamily="2" charset="77"/>
            </a:rPr>
            <a:t>Simplificació</a:t>
          </a:r>
          <a:r>
            <a:rPr lang="en-US" sz="2400" kern="1200" dirty="0">
              <a:latin typeface="LM Roman 10" pitchFamily="2" charset="77"/>
            </a:rPr>
            <a:t> del </a:t>
          </a:r>
          <a:r>
            <a:rPr lang="en-US" sz="2400" kern="1200" dirty="0" err="1">
              <a:latin typeface="LM Roman 10" pitchFamily="2" charset="77"/>
            </a:rPr>
            <a:t>sistema</a:t>
          </a:r>
          <a:endParaRPr lang="en-US" sz="2400" kern="1200" dirty="0">
            <a:latin typeface="LM Roman 10" pitchFamily="2" charset="77"/>
          </a:endParaRPr>
        </a:p>
      </dsp:txBody>
      <dsp:txXfrm>
        <a:off x="0" y="449"/>
        <a:ext cx="9724031" cy="526065"/>
      </dsp:txXfrm>
    </dsp:sp>
    <dsp:sp modelId="{B187BD64-657F-8341-91E1-3ACA09A9E7CE}">
      <dsp:nvSpPr>
        <dsp:cNvPr id="0" name=""/>
        <dsp:cNvSpPr/>
      </dsp:nvSpPr>
      <dsp:spPr>
        <a:xfrm>
          <a:off x="0" y="526515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687D3-1D21-2A4E-BCC2-C2BA04A1AEC4}">
      <dsp:nvSpPr>
        <dsp:cNvPr id="0" name=""/>
        <dsp:cNvSpPr/>
      </dsp:nvSpPr>
      <dsp:spPr>
        <a:xfrm>
          <a:off x="0" y="526515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2. </a:t>
          </a:r>
          <a:r>
            <a:rPr lang="en-US" sz="2400" kern="1200" dirty="0" err="1">
              <a:latin typeface="LM Roman 10" pitchFamily="2" charset="77"/>
            </a:rPr>
            <a:t>Equacions</a:t>
          </a:r>
          <a:r>
            <a:rPr lang="en-US" sz="2400" kern="1200" dirty="0">
              <a:latin typeface="LM Roman 10" pitchFamily="2" charset="77"/>
            </a:rPr>
            <a:t> MHD ideal</a:t>
          </a:r>
        </a:p>
      </dsp:txBody>
      <dsp:txXfrm>
        <a:off x="0" y="526515"/>
        <a:ext cx="9724031" cy="526065"/>
      </dsp:txXfrm>
    </dsp:sp>
    <dsp:sp modelId="{BABAFAD7-80B2-BD4C-9964-97F77560FD38}">
      <dsp:nvSpPr>
        <dsp:cNvPr id="0" name=""/>
        <dsp:cNvSpPr/>
      </dsp:nvSpPr>
      <dsp:spPr>
        <a:xfrm>
          <a:off x="0" y="1052580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A0FDB-E9FC-144C-9D2B-D57E52823192}">
      <dsp:nvSpPr>
        <dsp:cNvPr id="0" name=""/>
        <dsp:cNvSpPr/>
      </dsp:nvSpPr>
      <dsp:spPr>
        <a:xfrm>
          <a:off x="0" y="1052580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3. Ones MHD </a:t>
          </a:r>
          <a:r>
            <a:rPr lang="en-US" sz="2400" kern="1200" dirty="0" err="1">
              <a:latin typeface="LM Roman 10" pitchFamily="2" charset="77"/>
            </a:rPr>
            <a:t>lineals</a:t>
          </a:r>
          <a:endParaRPr lang="en-US" sz="2400" kern="1200" dirty="0">
            <a:latin typeface="LM Roman 10" pitchFamily="2" charset="77"/>
          </a:endParaRPr>
        </a:p>
      </dsp:txBody>
      <dsp:txXfrm>
        <a:off x="0" y="1052580"/>
        <a:ext cx="9724031" cy="526065"/>
      </dsp:txXfrm>
    </dsp:sp>
    <dsp:sp modelId="{26FDA98F-42A2-F44E-A0FB-FE848C3CED04}">
      <dsp:nvSpPr>
        <dsp:cNvPr id="0" name=""/>
        <dsp:cNvSpPr/>
      </dsp:nvSpPr>
      <dsp:spPr>
        <a:xfrm>
          <a:off x="0" y="1578646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55451-C99F-C544-B639-705206BD2BFE}">
      <dsp:nvSpPr>
        <dsp:cNvPr id="0" name=""/>
        <dsp:cNvSpPr/>
      </dsp:nvSpPr>
      <dsp:spPr>
        <a:xfrm>
          <a:off x="0" y="1578646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4. </a:t>
          </a:r>
          <a:r>
            <a:rPr lang="en-US" sz="2400" kern="1200" dirty="0" err="1">
              <a:latin typeface="LM Roman 10" pitchFamily="2" charset="77"/>
            </a:rPr>
            <a:t>Solucions</a:t>
          </a:r>
          <a:endParaRPr lang="en-US" sz="2400" kern="1200" dirty="0">
            <a:latin typeface="LM Roman 10" pitchFamily="2" charset="77"/>
          </a:endParaRPr>
        </a:p>
      </dsp:txBody>
      <dsp:txXfrm>
        <a:off x="0" y="1578646"/>
        <a:ext cx="9724031" cy="526065"/>
      </dsp:txXfrm>
    </dsp:sp>
    <dsp:sp modelId="{56D7B643-C085-5740-81DB-DD50550131EA}">
      <dsp:nvSpPr>
        <dsp:cNvPr id="0" name=""/>
        <dsp:cNvSpPr/>
      </dsp:nvSpPr>
      <dsp:spPr>
        <a:xfrm>
          <a:off x="0" y="2104711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C42B5-1F62-7544-A806-EFDE9A98CEBC}">
      <dsp:nvSpPr>
        <dsp:cNvPr id="0" name=""/>
        <dsp:cNvSpPr/>
      </dsp:nvSpPr>
      <dsp:spPr>
        <a:xfrm>
          <a:off x="0" y="2104711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5. </a:t>
          </a:r>
          <a:r>
            <a:rPr lang="en-US" sz="2400" kern="1200" dirty="0" err="1">
              <a:latin typeface="LM Roman 10" pitchFamily="2" charset="77"/>
            </a:rPr>
            <a:t>Mètode</a:t>
          </a:r>
          <a:endParaRPr lang="en-US" sz="2400" kern="1200" dirty="0">
            <a:latin typeface="LM Roman 10" pitchFamily="2" charset="77"/>
          </a:endParaRPr>
        </a:p>
      </dsp:txBody>
      <dsp:txXfrm>
        <a:off x="0" y="2104711"/>
        <a:ext cx="9724031" cy="526065"/>
      </dsp:txXfrm>
    </dsp:sp>
    <dsp:sp modelId="{692AA29B-AF05-4348-BF66-1CDABCE74972}">
      <dsp:nvSpPr>
        <dsp:cNvPr id="0" name=""/>
        <dsp:cNvSpPr/>
      </dsp:nvSpPr>
      <dsp:spPr>
        <a:xfrm>
          <a:off x="0" y="2630777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D400A-2FEF-9444-957D-0BED433CAB97}">
      <dsp:nvSpPr>
        <dsp:cNvPr id="0" name=""/>
        <dsp:cNvSpPr/>
      </dsp:nvSpPr>
      <dsp:spPr>
        <a:xfrm>
          <a:off x="0" y="2630777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6. </a:t>
          </a:r>
          <a:r>
            <a:rPr lang="en-US" sz="2400" kern="1200" dirty="0" err="1">
              <a:latin typeface="LM Roman 10" pitchFamily="2" charset="77"/>
            </a:rPr>
            <a:t>Anàlisi</a:t>
          </a:r>
          <a:r>
            <a:rPr lang="en-US" sz="2400" kern="1200" dirty="0">
              <a:latin typeface="LM Roman 10" pitchFamily="2" charset="77"/>
            </a:rPr>
            <a:t> de </a:t>
          </a:r>
          <a:r>
            <a:rPr lang="en-US" sz="2400" kern="1200" dirty="0" err="1">
              <a:latin typeface="LM Roman 10" pitchFamily="2" charset="77"/>
            </a:rPr>
            <a:t>resultats</a:t>
          </a:r>
          <a:endParaRPr lang="en-US" sz="2400" kern="1200" dirty="0">
            <a:latin typeface="LM Roman 10" pitchFamily="2" charset="77"/>
          </a:endParaRPr>
        </a:p>
      </dsp:txBody>
      <dsp:txXfrm>
        <a:off x="0" y="2630777"/>
        <a:ext cx="9724031" cy="526065"/>
      </dsp:txXfrm>
    </dsp:sp>
    <dsp:sp modelId="{52604F4E-D75F-0749-9CCC-0F1DB8233B36}">
      <dsp:nvSpPr>
        <dsp:cNvPr id="0" name=""/>
        <dsp:cNvSpPr/>
      </dsp:nvSpPr>
      <dsp:spPr>
        <a:xfrm>
          <a:off x="0" y="3156842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E516C-17C1-854F-BEF0-EA9072BC7C9C}">
      <dsp:nvSpPr>
        <dsp:cNvPr id="0" name=""/>
        <dsp:cNvSpPr/>
      </dsp:nvSpPr>
      <dsp:spPr>
        <a:xfrm>
          <a:off x="0" y="3156842"/>
          <a:ext cx="9724031" cy="52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M Roman 10" pitchFamily="2" charset="77"/>
            </a:rPr>
            <a:t>7. Conclusions</a:t>
          </a:r>
        </a:p>
      </dsp:txBody>
      <dsp:txXfrm>
        <a:off x="0" y="3156842"/>
        <a:ext cx="9724031" cy="526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CF5F1-0C1F-1A47-98CE-E4ABDAFF688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A4D9-CF54-A543-AEF3-AC3F28AD626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4638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CD9F-F818-FA32-9211-F10AFCB0D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01198-C88F-5526-0931-BBF601F10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A48B2-710E-6322-2CBD-F1FEAC69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BA298-12B4-5089-27D0-C6251CCE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F2509-19DE-5BA9-AE08-93A9F1AD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9764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AB58-6441-934E-2115-A212F25B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08DD1-E51C-C553-491E-F3AE4B4CB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19D7-0D82-A6DD-DCE2-709DFEEB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4DD1F-F06B-8422-DFE9-B3511265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892B3-8D2E-EF85-28CB-F8470CF0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2287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C44A-EFB2-E239-BCC3-B4811542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D0C8-481B-07A5-6AD0-A60E4DEAC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6C156-ED38-B966-1A02-59F5C878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05336-61C7-3834-9B28-4B378FC1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51B0A-ADF0-1416-4C77-D866E61C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56615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F172-3B7B-74E5-546C-705314A4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4D56F-4F4F-6F92-E48A-E20809297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31B85-74C4-53F4-D241-DFBA30CBA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22E43-1566-E225-C7B6-3EFC0200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FECE3-8401-0E5B-79DE-90E2627E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B3C79-6015-66A8-5E9D-40315851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6951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9118-C7A3-D543-CC83-8DC572A2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BC8D5-F0E2-A7A8-E3BE-7E1CFCC75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785B6-DDEF-F116-9256-6ACBD1DD3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21F99-ACDD-5774-D42B-6F1D4EFB7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9071D-B004-DFEA-9BE8-5195068F3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DB4E3-E44C-9F74-2A94-B158D309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3B5D96-33BD-DB61-67D9-0A4F1BD8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EC10F-F3E8-2025-066D-C47DCF6D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9147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4313-B114-C1F4-9F5E-5D6332B1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4F28D-1C8B-6549-E1D0-34FD3125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00C63-8143-F823-382F-DF0A8755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8D434-9A77-B251-5D33-ED4E0A63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9161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78F4D-0669-B615-D55A-64AE1205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85F77-E813-1286-1D46-F716B7C04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0A499-ABA9-70D2-3149-E5298743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26427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43E4-E3CF-94D3-B45B-F212EA63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FDB5F-34E2-D706-C3E3-54B629DE3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59567-7988-79E4-C823-EAB06A769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24D98-2E39-E770-AE0D-91DB8FD0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A1CF-AA0F-9DF4-02A9-26D95EF4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F9B9-C457-1462-107A-12E1E132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113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D016-D4D9-75D7-98F9-D21C5166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8584F-612E-0682-011A-F9C149EF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E8BEF-37CF-5792-B4FE-C3AD00F34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8392F-DAA4-DDF5-EF28-A6DA8F66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14365-141F-9908-AB97-AA0900A5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73C4A-23E8-8E5F-426A-D69EBBF3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4695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77F-5FE6-C350-31DF-2A88BE34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E07FD-419E-0504-BF00-1513A2704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CD5A7-FD4C-B6CD-5235-AEA302F4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A18C-BBA9-5FFE-54BF-FC14F8CD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B2254-AFEF-48AE-B210-E19B602C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6923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BFB44-694D-7658-3FC6-7F8E0A17B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16D1C-518A-A765-8CB1-874D1449E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35EAD-056F-86CF-CB6B-FED368B1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EF3B-616B-19FC-2058-9864FB4C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54A9C-220C-1B00-B372-54EA9432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0489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D83A8-6E24-7E73-25FE-5E3DF96DB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6AD25-66D6-6C49-4F74-988C4D37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A1EA-6858-8C25-5454-1EAAD0F9E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9853B-83D9-4245-8D0B-4B5D825E94BB}" type="datetimeFigureOut">
              <a:rPr lang="en-ES" smtClean="0"/>
              <a:t>06/18/2025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0092D-39C6-8808-D33B-5CAE2238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80961-8F14-3A51-92C6-F10CA4420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E84E2-7456-7541-9CD6-E1FF04CADD8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1785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A fire in the sky&#10;&#10;AI-generated content may be incorrect.">
            <a:extLst>
              <a:ext uri="{FF2B5EF4-FFF2-40B4-BE49-F238E27FC236}">
                <a16:creationId xmlns:a16="http://schemas.microsoft.com/office/drawing/2014/main" id="{C69F07ED-77C0-2C73-80B3-877BAF54C8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4" t="18182" r="33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B9277-B55B-83BC-7DA6-53E1A8D7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68969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ES" sz="2900">
                <a:latin typeface="LM Roman 10" pitchFamily="2" charset="77"/>
              </a:rPr>
              <a:t>ONES MAGNETOHIDRODINÀMIQUES EN UN MEDI ACOTAT USANT DEDALUS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E6B33-77E4-89F4-453B-8BE9243C8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7245" y="5768969"/>
            <a:ext cx="3399681" cy="955994"/>
          </a:xfrm>
        </p:spPr>
        <p:txBody>
          <a:bodyPr anchor="ctr">
            <a:normAutofit fontScale="85000" lnSpcReduction="20000"/>
          </a:bodyPr>
          <a:lstStyle/>
          <a:p>
            <a:pPr algn="r"/>
            <a:r>
              <a:rPr lang="en-ES" sz="1300" dirty="0">
                <a:latin typeface="LM Roman 10" pitchFamily="2" charset="77"/>
              </a:rPr>
              <a:t>Treball de Fi de Grau</a:t>
            </a:r>
          </a:p>
          <a:p>
            <a:pPr algn="r"/>
            <a:r>
              <a:rPr lang="en-ES" sz="1300" dirty="0">
                <a:latin typeface="LM Roman 10" pitchFamily="2" charset="77"/>
              </a:rPr>
              <a:t>Grau de Física</a:t>
            </a:r>
          </a:p>
          <a:p>
            <a:pPr algn="r"/>
            <a:r>
              <a:rPr lang="en-ES" sz="1300" dirty="0">
                <a:latin typeface="LM Roman 10" pitchFamily="2" charset="77"/>
              </a:rPr>
              <a:t>Autor: Joan Ribot Oliver</a:t>
            </a:r>
          </a:p>
          <a:p>
            <a:pPr algn="r"/>
            <a:r>
              <a:rPr lang="en-ES" sz="1300" dirty="0">
                <a:latin typeface="LM Roman 10" pitchFamily="2" charset="77"/>
              </a:rPr>
              <a:t>Tutor: Ramon Oliver Herreros</a:t>
            </a:r>
          </a:p>
        </p:txBody>
      </p:sp>
    </p:spTree>
    <p:extLst>
      <p:ext uri="{BB962C8B-B14F-4D97-AF65-F5344CB8AC3E}">
        <p14:creationId xmlns:p14="http://schemas.microsoft.com/office/powerpoint/2010/main" val="2731519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7EF30-6ED9-3880-D477-BCC0DB88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Índex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9C16D31E-9CD8-49AF-623B-AB18AEEB83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972119"/>
              </p:ext>
            </p:extLst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17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CE5B0-5AD0-B645-BA06-4894A36D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1. Simplificació del sistema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1557DBAA-BB46-5A8F-013E-4A0BFC325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12" y="2325583"/>
            <a:ext cx="5712786" cy="3427672"/>
          </a:xfr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B448BD86-F247-162D-BAB4-472D6753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207" y="2080429"/>
            <a:ext cx="5694381" cy="36728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A78B45-7EB0-8A6B-04E7-2E5BC3552483}"/>
              </a:ext>
            </a:extLst>
          </p:cNvPr>
          <p:cNvSpPr txBox="1"/>
          <p:nvPr/>
        </p:nvSpPr>
        <p:spPr>
          <a:xfrm>
            <a:off x="1937710" y="5751629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6230A-A1A9-898D-3BB5-99FA1DED487A}"/>
              </a:ext>
            </a:extLst>
          </p:cNvPr>
          <p:cNvSpPr txBox="1"/>
          <p:nvPr/>
        </p:nvSpPr>
        <p:spPr>
          <a:xfrm>
            <a:off x="7905302" y="5753255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2</a:t>
            </a:r>
          </a:p>
        </p:txBody>
      </p:sp>
    </p:spTree>
    <p:extLst>
      <p:ext uri="{BB962C8B-B14F-4D97-AF65-F5344CB8AC3E}">
        <p14:creationId xmlns:p14="http://schemas.microsoft.com/office/powerpoint/2010/main" val="149559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DEFA8-A132-F214-F112-C50D8D33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2. Equacions MHD ideal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BE2E97-0E8D-AED6-FCB5-288C1008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73" y="1860663"/>
            <a:ext cx="9441448" cy="472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5BF69-10DE-96D4-B59E-5520F2949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926" y="3009074"/>
            <a:ext cx="3606800" cy="308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26C336-E212-904B-6802-8433E5109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0" y="3009074"/>
            <a:ext cx="544830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02B41D-08D6-B7BE-A694-232D1AFFF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85" y="4552124"/>
            <a:ext cx="4038600" cy="177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DEDE92-2132-95B3-30BB-BDDBB7C36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5" y="3009074"/>
            <a:ext cx="4267200" cy="18923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FAD79A3-2568-B189-BE3A-46EC6E08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3. Ones MHD lineals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E9917E1-4978-B8E7-BDAD-222360002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6926" y="1622491"/>
            <a:ext cx="41148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9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0A459-D2A7-1DE6-10FE-217D8F14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31B80A-C8F0-3EF7-5B8B-396609DCA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32F260-F1E7-CE10-5B2F-332F31FB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E4D8A-7DCD-D844-5BB9-3EB3DA023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E87B6-456D-F3CF-5A68-BF03B89AC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650BCD-6E4F-A218-EE5E-C9C680600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BE21C3-6CA0-F0D3-6A41-F4829BB6D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47" y="4788811"/>
            <a:ext cx="6642100" cy="1104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3518DC-DD67-F1EE-AF1C-6A600A7F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1904071"/>
            <a:ext cx="7137400" cy="257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4FEB3A-AC9B-6F93-1907-2414FC432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875967"/>
            <a:ext cx="4216400" cy="25781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7B660D0-1A0F-BD00-72C8-C2869819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3. Ones MHD lineals</a:t>
            </a:r>
          </a:p>
        </p:txBody>
      </p:sp>
    </p:spTree>
    <p:extLst>
      <p:ext uri="{BB962C8B-B14F-4D97-AF65-F5344CB8AC3E}">
        <p14:creationId xmlns:p14="http://schemas.microsoft.com/office/powerpoint/2010/main" val="176795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2E43C-DC16-4923-C8EC-E4B96002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83266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4. Solucions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3CE65A-A4CC-07C3-D20F-36F3FC924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2" y="4241800"/>
            <a:ext cx="5041900" cy="2616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23E715-FC40-7749-070A-F3723A458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44" y="1716578"/>
            <a:ext cx="5219700" cy="2616200"/>
          </a:xfrm>
          <a:prstGeom prst="rect">
            <a:avLst/>
          </a:prstGeom>
        </p:spPr>
      </p:pic>
      <p:pic>
        <p:nvPicPr>
          <p:cNvPr id="8" name="Content Placeholder 7" descr="A diagram of a graph&#10;&#10;AI-generated content may be incorrect.">
            <a:extLst>
              <a:ext uri="{FF2B5EF4-FFF2-40B4-BE49-F238E27FC236}">
                <a16:creationId xmlns:a16="http://schemas.microsoft.com/office/drawing/2014/main" id="{60AB1DF6-CC3A-E363-1838-DC9C6AB6A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276204" y="1849219"/>
            <a:ext cx="6746352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0AFF1C-2064-D6B8-9EDD-6B6DED2D740B}"/>
              </a:ext>
            </a:extLst>
          </p:cNvPr>
          <p:cNvSpPr txBox="1"/>
          <p:nvPr/>
        </p:nvSpPr>
        <p:spPr>
          <a:xfrm>
            <a:off x="7470285" y="6015891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2</a:t>
            </a:r>
          </a:p>
        </p:txBody>
      </p:sp>
    </p:spTree>
    <p:extLst>
      <p:ext uri="{BB962C8B-B14F-4D97-AF65-F5344CB8AC3E}">
        <p14:creationId xmlns:p14="http://schemas.microsoft.com/office/powerpoint/2010/main" val="85877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BC2C1-EF4F-9724-CC29-B8B52FFD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5. Mètode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65359A-3BDF-001F-E4AC-A4D16568BC00}"/>
              </a:ext>
            </a:extLst>
          </p:cNvPr>
          <p:cNvSpPr txBox="1"/>
          <p:nvPr/>
        </p:nvSpPr>
        <p:spPr>
          <a:xfrm>
            <a:off x="1380694" y="2194606"/>
            <a:ext cx="3354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>
                <a:latin typeface="LM Roman 10" pitchFamily="2" charset="77"/>
              </a:rPr>
              <a:t>Eixos, distribuidors </a:t>
            </a:r>
            <a:r>
              <a:rPr lang="en-GB" sz="2000" dirty="0" err="1">
                <a:latin typeface="LM Roman 10" pitchFamily="2" charset="77"/>
              </a:rPr>
              <a:t>i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ES" sz="2000" dirty="0">
                <a:latin typeface="LM Roman 10" pitchFamily="2" charset="77"/>
              </a:rPr>
              <a:t>bases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7B138-D7EC-F29A-C2CD-F61E3CAE23A6}"/>
              </a:ext>
            </a:extLst>
          </p:cNvPr>
          <p:cNvSpPr txBox="1"/>
          <p:nvPr/>
        </p:nvSpPr>
        <p:spPr>
          <a:xfrm>
            <a:off x="4237098" y="1655505"/>
            <a:ext cx="4169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800" dirty="0">
                <a:latin typeface="LM Roman 10" pitchFamily="2" charset="77"/>
              </a:rPr>
              <a:t>Funcionament Dedalus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CF568-63CB-9441-9E1C-C28F84B0CA94}"/>
              </a:ext>
            </a:extLst>
          </p:cNvPr>
          <p:cNvSpPr txBox="1"/>
          <p:nvPr/>
        </p:nvSpPr>
        <p:spPr>
          <a:xfrm>
            <a:off x="1377088" y="3768794"/>
            <a:ext cx="3249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>
                <a:latin typeface="LM Roman 10" pitchFamily="2" charset="77"/>
              </a:rPr>
              <a:t>Camps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E656F-E877-884D-CF30-266D36B8AC7A}"/>
              </a:ext>
            </a:extLst>
          </p:cNvPr>
          <p:cNvSpPr txBox="1"/>
          <p:nvPr/>
        </p:nvSpPr>
        <p:spPr>
          <a:xfrm>
            <a:off x="1377088" y="4168904"/>
            <a:ext cx="98899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dist.local_grid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dist.Field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(name='v', bases=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vA2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dist.Field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(name='vA2', bases=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vA2['g']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np.piecewise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[x &lt; -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(-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x) * (x &lt;=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x &gt;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[vAc2, vAp2, vAc2])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dist.Field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(name='s')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C4016-9D63-D323-D06C-CA58798B1117}"/>
              </a:ext>
            </a:extLst>
          </p:cNvPr>
          <p:cNvSpPr txBox="1"/>
          <p:nvPr/>
        </p:nvSpPr>
        <p:spPr>
          <a:xfrm>
            <a:off x="1380694" y="2575378"/>
            <a:ext cx="9889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xcoord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d3.Coordinate('x')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d3.Distributor(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xcoord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d3.Legendre(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xcoord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size=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bounds=(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xmin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xmax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15468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06C18-A69F-60C3-6E1B-3CE8CD6F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986D06-7B35-67DF-3578-89896573E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91E70F-86CF-655D-2F9B-DE0DC19CF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07DC8F-E46E-2BC1-12C2-05F535A13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FC458A-F759-2C65-EFCF-B54C7B49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5ABDF6-FE63-3793-E635-C2F0E16F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DC666-1F32-41B3-271C-B929724C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5. Mètode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2EBE8-D716-98DF-F516-A607368617E5}"/>
              </a:ext>
            </a:extLst>
          </p:cNvPr>
          <p:cNvSpPr txBox="1"/>
          <p:nvPr/>
        </p:nvSpPr>
        <p:spPr>
          <a:xfrm>
            <a:off x="1380098" y="2169445"/>
            <a:ext cx="3354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err="1">
                <a:latin typeface="LM Roman 10" pitchFamily="2" charset="77"/>
              </a:rPr>
              <a:t>Operadors</a:t>
            </a:r>
            <a:endParaRPr lang="en-ES" sz="2000" dirty="0">
              <a:latin typeface="LM Roman 1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6B2BF1-C8CA-366F-CFD1-E44E2C219276}"/>
              </a:ext>
            </a:extLst>
          </p:cNvPr>
          <p:cNvSpPr txBox="1"/>
          <p:nvPr/>
        </p:nvSpPr>
        <p:spPr>
          <a:xfrm>
            <a:off x="1380098" y="2654728"/>
            <a:ext cx="91101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tau_1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dist.Field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(name='tau_1')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tau_2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dist.Field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(name='tau_2')</a:t>
            </a:r>
          </a:p>
          <a:p>
            <a:b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dx = lambda A: d3.Differentiate(A,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xcoord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lift_basis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xbasis.derivative_basis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lift = lambda A: d3.Lift(A,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lift_basis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-1)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dx(v) + lift(tau_1)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vxx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dx(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lift(tau_2)</a:t>
            </a:r>
          </a:p>
        </p:txBody>
      </p:sp>
    </p:spTree>
    <p:extLst>
      <p:ext uri="{BB962C8B-B14F-4D97-AF65-F5344CB8AC3E}">
        <p14:creationId xmlns:p14="http://schemas.microsoft.com/office/powerpoint/2010/main" val="19257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22269-E55C-BCED-6C15-D31BCEF6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FC1D19-579C-2CE0-66EB-BEF72DA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3D4EE-752F-C522-042C-79C024D6D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4C806E-4576-767D-8242-2922D79F6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705E32-5517-CDE0-D53C-B2A30982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30A711-7AF8-5104-D264-FEDA73CAD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F9E28-9586-9C14-7327-DAE995455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5. Mètode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3F82C-6C57-0A2B-A54F-F220AA27538F}"/>
              </a:ext>
            </a:extLst>
          </p:cNvPr>
          <p:cNvSpPr txBox="1"/>
          <p:nvPr/>
        </p:nvSpPr>
        <p:spPr>
          <a:xfrm>
            <a:off x="1386448" y="1782444"/>
            <a:ext cx="3249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>
                <a:latin typeface="LM Roman 10" pitchFamily="2" charset="77"/>
              </a:rPr>
              <a:t>Problemes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834CD-B090-79AE-9547-4DE6CC80D567}"/>
              </a:ext>
            </a:extLst>
          </p:cNvPr>
          <p:cNvSpPr txBox="1"/>
          <p:nvPr/>
        </p:nvSpPr>
        <p:spPr>
          <a:xfrm>
            <a:off x="1386448" y="2182554"/>
            <a:ext cx="71860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problem = d3.EVP([v, tau_1, tau_2], eigenvalue=s, namespace=locals())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problem.add_equation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 * v + vA2 *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vxx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0")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problem.add_equation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("v(x=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xmin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 0")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problem.add_equation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("v(x=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xmax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 0")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F223BD-5A63-41C5-C06D-EFFFD3620B76}"/>
              </a:ext>
            </a:extLst>
          </p:cNvPr>
          <p:cNvSpPr txBox="1"/>
          <p:nvPr/>
        </p:nvSpPr>
        <p:spPr>
          <a:xfrm>
            <a:off x="1386448" y="4136935"/>
            <a:ext cx="3839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 err="1">
                <a:latin typeface="LM Roman 10" pitchFamily="2" charset="77"/>
              </a:rPr>
              <a:t>Solucionadors</a:t>
            </a:r>
            <a:endParaRPr lang="en-ES" sz="2000" dirty="0">
              <a:latin typeface="LM Roman 10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55007-7729-5C9A-B7A8-3FD75CB546CE}"/>
              </a:ext>
            </a:extLst>
          </p:cNvPr>
          <p:cNvSpPr txBox="1"/>
          <p:nvPr/>
        </p:nvSpPr>
        <p:spPr>
          <a:xfrm>
            <a:off x="1386448" y="4548140"/>
            <a:ext cx="63286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problem.build_solver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solver.solve_dense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solver.subproblems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evals =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np.sort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solver.eigenvalues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solver.set_state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solver.subsystems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vg = (v['g']).real / (v['g'][1]).real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7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F91DC-0C27-0A98-61F7-196F8D42F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6. Anàlisi de resultats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9061FE-093B-9495-7067-1480D7AB7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472" y="1763575"/>
            <a:ext cx="5067300" cy="12827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E526D8-EBF3-E3B1-6421-C4BE43DB5F5B}"/>
              </a:ext>
            </a:extLst>
          </p:cNvPr>
          <p:cNvSpPr txBox="1"/>
          <p:nvPr/>
        </p:nvSpPr>
        <p:spPr>
          <a:xfrm>
            <a:off x="2150319" y="5578445"/>
            <a:ext cx="247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000" dirty="0">
                <a:latin typeface="LM Roman 10" pitchFamily="2" charset="77"/>
              </a:rPr>
              <a:t>Taula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6DBAAD-787C-4E32-3337-DDFE7929738C}"/>
              </a:ext>
            </a:extLst>
          </p:cNvPr>
          <p:cNvSpPr txBox="1"/>
          <p:nvPr/>
        </p:nvSpPr>
        <p:spPr>
          <a:xfrm>
            <a:off x="7563178" y="5578445"/>
            <a:ext cx="247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000" dirty="0">
                <a:latin typeface="LM Roman 10" pitchFamily="2" charset="77"/>
              </a:rPr>
              <a:t>Taula 2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325899-680A-979D-2A6F-15F14121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21" y="3429000"/>
            <a:ext cx="4483100" cy="2349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425F80-B813-DB47-E103-F2F0CA979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73" y="3429000"/>
            <a:ext cx="44831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8D265-85CC-233E-55A8-D65505FC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C1B1DF-A422-0625-375F-040E0D8A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570" y="207554"/>
            <a:ext cx="8128856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Error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relatiu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dels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autovalors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dels modes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d’Alfvén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per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valors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realistes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6" name="Content Placeholder 5" descr="A blue line graph with numbers&#10;&#10;AI-generated content may be incorrect.">
            <a:extLst>
              <a:ext uri="{FF2B5EF4-FFF2-40B4-BE49-F238E27FC236}">
                <a16:creationId xmlns:a16="http://schemas.microsoft.com/office/drawing/2014/main" id="{7390BF80-05CE-0C41-6604-2E50A5064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886" y="1781864"/>
            <a:ext cx="7376224" cy="45548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62878-12DE-38D5-4A85-E78DDE70DF7F}"/>
              </a:ext>
            </a:extLst>
          </p:cNvPr>
          <p:cNvSpPr txBox="1"/>
          <p:nvPr/>
        </p:nvSpPr>
        <p:spPr>
          <a:xfrm>
            <a:off x="5217693" y="6336687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3</a:t>
            </a:r>
          </a:p>
        </p:txBody>
      </p:sp>
    </p:spTree>
    <p:extLst>
      <p:ext uri="{BB962C8B-B14F-4D97-AF65-F5344CB8AC3E}">
        <p14:creationId xmlns:p14="http://schemas.microsoft.com/office/powerpoint/2010/main" val="397483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1800F-96C7-B968-3114-7CACDB46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LM Roman 10" pitchFamily="2" charset="77"/>
              </a:rPr>
              <a:t>6.1. Modes </a:t>
            </a:r>
            <a:r>
              <a:rPr lang="en-US" sz="4800" kern="1200" dirty="0" err="1">
                <a:solidFill>
                  <a:srgbClr val="FFFFFF"/>
                </a:solidFill>
                <a:latin typeface="LM Roman 10" pitchFamily="2" charset="77"/>
              </a:rPr>
              <a:t>d’Alfvén</a:t>
            </a:r>
            <a:endParaRPr lang="en-US" sz="48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E72C9-4838-9A8B-C43B-84217D94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763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1D053-7C87-44CC-ACC2-0A25F8E9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DF896918-39CB-BCB4-2CE3-85568C92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3DE8F13-3811-ABA0-4A80-6120BB09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C6A308-EDF7-F312-F72A-476622B38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8C2966-3BF0-6DE3-7B4E-643405D05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F9C852-5065-C93F-B4D7-3F137DAD2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183" y="207554"/>
            <a:ext cx="8411630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Error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relatiu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dels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autovalors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dels modes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d’Alfvén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2" name="Content Placeholder 16" descr="A graph showing a line&#10;&#10;AI-generated content may be incorrect.">
            <a:extLst>
              <a:ext uri="{FF2B5EF4-FFF2-40B4-BE49-F238E27FC236}">
                <a16:creationId xmlns:a16="http://schemas.microsoft.com/office/drawing/2014/main" id="{9AC85D4D-0CE2-07C6-0AA5-67306A03D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124" y="1741880"/>
            <a:ext cx="7225748" cy="44619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F7D0C7-DDB3-A483-0538-11B928089650}"/>
              </a:ext>
            </a:extLst>
          </p:cNvPr>
          <p:cNvSpPr txBox="1"/>
          <p:nvPr/>
        </p:nvSpPr>
        <p:spPr>
          <a:xfrm>
            <a:off x="5193629" y="6315448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4</a:t>
            </a:r>
          </a:p>
        </p:txBody>
      </p:sp>
    </p:spTree>
    <p:extLst>
      <p:ext uri="{BB962C8B-B14F-4D97-AF65-F5344CB8AC3E}">
        <p14:creationId xmlns:p14="http://schemas.microsoft.com/office/powerpoint/2010/main" val="68355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E7513-B599-C8F1-9078-FC62BC2D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0935E0D-563F-5C02-82FD-75FD3BF0C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13C7AC4-D11F-6A4E-C622-1B31FA6BB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AC37BC-63BE-7FFA-8D7E-839A2A7D2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76ABD9-EDD1-EB72-BF1A-2F5710726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407DEE-5984-8847-0752-C974BBDC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50" y="209699"/>
            <a:ext cx="9282895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Autofuncions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dels modes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d’Alfvén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B8B2CA-C297-B56D-A3D3-0E0BC2C55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171" y="1784009"/>
            <a:ext cx="6409647" cy="435133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A647E9-F926-686B-5F62-4BC112AAD96E}"/>
              </a:ext>
            </a:extLst>
          </p:cNvPr>
          <p:cNvSpPr txBox="1"/>
          <p:nvPr/>
        </p:nvSpPr>
        <p:spPr>
          <a:xfrm>
            <a:off x="5168692" y="6211917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5</a:t>
            </a:r>
          </a:p>
        </p:txBody>
      </p:sp>
    </p:spTree>
    <p:extLst>
      <p:ext uri="{BB962C8B-B14F-4D97-AF65-F5344CB8AC3E}">
        <p14:creationId xmlns:p14="http://schemas.microsoft.com/office/powerpoint/2010/main" val="316773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3E8AC-E46D-3414-155C-D8B80FB0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DB442-997B-84BB-4E44-FB83C517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LM Roman 10" pitchFamily="2" charset="77"/>
              </a:rPr>
              <a:t>6.2. Modes </a:t>
            </a:r>
            <a:r>
              <a:rPr lang="en-US" sz="4800" kern="1200" dirty="0" err="1">
                <a:solidFill>
                  <a:srgbClr val="FFFFFF"/>
                </a:solidFill>
                <a:latin typeface="LM Roman 10" pitchFamily="2" charset="77"/>
              </a:rPr>
              <a:t>ràpids</a:t>
            </a:r>
            <a:r>
              <a:rPr lang="en-US" sz="48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LM Roman 10" pitchFamily="2" charset="77"/>
              </a:rPr>
              <a:t>i</a:t>
            </a:r>
            <a:r>
              <a:rPr lang="en-US" sz="48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LM Roman 10" pitchFamily="2" charset="77"/>
              </a:rPr>
              <a:t>lents</a:t>
            </a:r>
            <a:endParaRPr lang="en-US" sz="48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03E84-319B-8FA1-9D0E-B633D5090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LM Roman 1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29360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46F56-E23C-37F2-1632-D229A0C5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CB95B31-9541-5E00-DC92-62DCA85FA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B70DC2-9ED4-FD75-584F-7CD211A4E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23D7EF7-F372-5AAC-C52A-2AE4F73A5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5776A1B-4F66-BC3D-C1BD-00A7A6D80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AC9BCC-4B2A-E8B1-CF3F-0E8D091B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183" y="207554"/>
            <a:ext cx="8411630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Diagrama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de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dispersió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dels modes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ràpids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lents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AE3D9AA-E248-A285-42D1-CAF2781BD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700" y="1781864"/>
            <a:ext cx="6531456" cy="435133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49289A-47CE-02E9-A3C2-EAAE4C0CCF34}"/>
              </a:ext>
            </a:extLst>
          </p:cNvPr>
          <p:cNvSpPr txBox="1"/>
          <p:nvPr/>
        </p:nvSpPr>
        <p:spPr>
          <a:xfrm>
            <a:off x="2885333" y="6133202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018242-AE56-E600-3B16-9020865CD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66" y="2501900"/>
            <a:ext cx="5253704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4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8EEC8-0407-31C5-9822-8606CC76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450C7683-3ADB-1BC5-9D59-57B2B94F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FDFB65-6EBA-627F-63AF-C239DF478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32817D-0FD5-D39D-51A1-50EDC99A6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DB1034F-D5ED-2D70-371B-BA3A914ED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17716FC-445D-DFC9-A957-D2825299D2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408079" y="255682"/>
                <a:ext cx="9375838" cy="1159200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Autofuncions dels modes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ràpids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i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lents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,</a:t>
                </a:r>
                <a:b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4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4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sz="4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s-ES" sz="4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en-US" sz="4000" kern="1200" dirty="0">
                  <a:solidFill>
                    <a:srgbClr val="FFFFFF"/>
                  </a:solidFill>
                  <a:latin typeface="LM Roman 10" pitchFamily="2" charset="77"/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17716FC-445D-DFC9-A957-D2825299D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408079" y="255682"/>
                <a:ext cx="9375838" cy="1159200"/>
              </a:xfrm>
              <a:blipFill>
                <a:blip r:embed="rId2"/>
                <a:stretch>
                  <a:fillRect t="-19565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function&#10;&#10;AI-generated content may be incorrect.">
            <a:extLst>
              <a:ext uri="{FF2B5EF4-FFF2-40B4-BE49-F238E27FC236}">
                <a16:creationId xmlns:a16="http://schemas.microsoft.com/office/drawing/2014/main" id="{CD467F07-9841-CD41-1673-0AE6BAB0C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3313" y="1868221"/>
            <a:ext cx="6936651" cy="435133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F36DBC-04D7-AA93-7E74-FAA22BD1813D}"/>
              </a:ext>
            </a:extLst>
          </p:cNvPr>
          <p:cNvSpPr txBox="1"/>
          <p:nvPr/>
        </p:nvSpPr>
        <p:spPr>
          <a:xfrm>
            <a:off x="7700142" y="6291384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7</a:t>
            </a:r>
          </a:p>
        </p:txBody>
      </p:sp>
      <p:pic>
        <p:nvPicPr>
          <p:cNvPr id="5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3BAA05C-7EC9-47CB-F3FF-1A0FACB7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88" y="2651552"/>
            <a:ext cx="3980986" cy="2652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C79219-CF99-2393-C795-444C9C585309}"/>
              </a:ext>
            </a:extLst>
          </p:cNvPr>
          <p:cNvSpPr/>
          <p:nvPr/>
        </p:nvSpPr>
        <p:spPr>
          <a:xfrm>
            <a:off x="872413" y="2714105"/>
            <a:ext cx="3427582" cy="1884476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31E5B8-B458-64F7-B245-C44631137516}"/>
              </a:ext>
            </a:extLst>
          </p:cNvPr>
          <p:cNvSpPr/>
          <p:nvPr/>
        </p:nvSpPr>
        <p:spPr>
          <a:xfrm>
            <a:off x="788638" y="3005939"/>
            <a:ext cx="83776" cy="68202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2540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F42BA-C839-C096-FD82-F867BEA6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7F2D0B2C-E825-BB2D-E627-6B11578F0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E759BA-9429-CF16-202F-A408A9267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3C41979-485A-203E-490C-FDD32414A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3827C4C-FD1A-6856-8C79-E09D12249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2F2C3C0F-040B-148B-6B89-ED10B207D4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04980" y="207554"/>
                <a:ext cx="10182033" cy="1159200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Evolució de les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autofuncions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del mode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fHR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,</a:t>
                </a:r>
                <a:b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</a:b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en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funció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sz="4000" kern="1200" dirty="0">
                  <a:solidFill>
                    <a:srgbClr val="FFFFFF"/>
                  </a:solidFill>
                  <a:latin typeface="LM Roman 10" pitchFamily="2" charset="77"/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2F2C3C0F-040B-148B-6B89-ED10B207D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04980" y="207554"/>
                <a:ext cx="10182033" cy="1159200"/>
              </a:xfrm>
              <a:blipFill>
                <a:blip r:embed="rId2"/>
                <a:stretch>
                  <a:fillRect l="-748" t="-16304" r="-748" b="-25000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 descr="A graph of a function&#10;&#10;AI-generated content may be incorrect.">
            <a:extLst>
              <a:ext uri="{FF2B5EF4-FFF2-40B4-BE49-F238E27FC236}">
                <a16:creationId xmlns:a16="http://schemas.microsoft.com/office/drawing/2014/main" id="{02F16122-A434-7BEE-ECC0-6D548DF18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5799" y="1781864"/>
            <a:ext cx="7193707" cy="4391561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59D7D8-B081-304E-989B-F40895663FFD}"/>
              </a:ext>
            </a:extLst>
          </p:cNvPr>
          <p:cNvSpPr txBox="1"/>
          <p:nvPr/>
        </p:nvSpPr>
        <p:spPr>
          <a:xfrm>
            <a:off x="7538114" y="6241063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F037AB-5721-AABD-F18A-D82673C28B33}"/>
              </a:ext>
            </a:extLst>
          </p:cNvPr>
          <p:cNvSpPr/>
          <p:nvPr/>
        </p:nvSpPr>
        <p:spPr>
          <a:xfrm>
            <a:off x="1183305" y="3481624"/>
            <a:ext cx="2709630" cy="826624"/>
          </a:xfrm>
          <a:prstGeom prst="rect">
            <a:avLst/>
          </a:prstGeom>
          <a:solidFill>
            <a:schemeClr val="lt1">
              <a:alpha val="86140"/>
            </a:schemeClr>
          </a:solidFill>
          <a:ln>
            <a:noFill/>
          </a:ln>
          <a:scene3d>
            <a:camera prst="orthographicFront">
              <a:rot lat="0" lon="0" rev="12300001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8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A1BFD6A-01EE-F55F-8EC7-4482943A5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88" y="2651552"/>
            <a:ext cx="3980986" cy="26521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38B4B0-42F3-D145-6B38-6110BD7F9F7B}"/>
              </a:ext>
            </a:extLst>
          </p:cNvPr>
          <p:cNvSpPr/>
          <p:nvPr/>
        </p:nvSpPr>
        <p:spPr>
          <a:xfrm>
            <a:off x="802180" y="3864634"/>
            <a:ext cx="3476522" cy="730508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CA3112-CA33-2316-5BB3-BB30EFCC2F42}"/>
              </a:ext>
            </a:extLst>
          </p:cNvPr>
          <p:cNvSpPr/>
          <p:nvPr/>
        </p:nvSpPr>
        <p:spPr>
          <a:xfrm>
            <a:off x="846668" y="3000963"/>
            <a:ext cx="2344207" cy="52302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3952B-F2CF-A78D-63F2-80D572009047}"/>
              </a:ext>
            </a:extLst>
          </p:cNvPr>
          <p:cNvSpPr/>
          <p:nvPr/>
        </p:nvSpPr>
        <p:spPr>
          <a:xfrm flipV="1">
            <a:off x="2178050" y="3506175"/>
            <a:ext cx="2128573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F4C3CB-0BF3-BC88-5A36-18F0D3D792E1}"/>
              </a:ext>
            </a:extLst>
          </p:cNvPr>
          <p:cNvSpPr/>
          <p:nvPr/>
        </p:nvSpPr>
        <p:spPr>
          <a:xfrm flipV="1">
            <a:off x="846668" y="3417543"/>
            <a:ext cx="1070801" cy="138321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FFE94-2AD1-AB64-EB47-B60FC57AE0DE}"/>
              </a:ext>
            </a:extLst>
          </p:cNvPr>
          <p:cNvSpPr/>
          <p:nvPr/>
        </p:nvSpPr>
        <p:spPr>
          <a:xfrm flipV="1">
            <a:off x="3386903" y="3030407"/>
            <a:ext cx="891799" cy="58891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0B5734-325B-C831-5150-82465D148B1F}"/>
              </a:ext>
            </a:extLst>
          </p:cNvPr>
          <p:cNvSpPr/>
          <p:nvPr/>
        </p:nvSpPr>
        <p:spPr>
          <a:xfrm>
            <a:off x="802180" y="3194729"/>
            <a:ext cx="1906095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85178-7337-326C-9D7E-D663920456A4}"/>
              </a:ext>
            </a:extLst>
          </p:cNvPr>
          <p:cNvSpPr/>
          <p:nvPr/>
        </p:nvSpPr>
        <p:spPr>
          <a:xfrm flipV="1">
            <a:off x="3009901" y="3210314"/>
            <a:ext cx="1268802" cy="5888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FBA606-831E-8726-7A6E-E51B348E0A1C}"/>
              </a:ext>
            </a:extLst>
          </p:cNvPr>
          <p:cNvSpPr/>
          <p:nvPr/>
        </p:nvSpPr>
        <p:spPr>
          <a:xfrm flipH="1" flipV="1">
            <a:off x="2789767" y="3211447"/>
            <a:ext cx="303636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51F94A-FF01-B400-76E1-F3F99771A17F}"/>
              </a:ext>
            </a:extLst>
          </p:cNvPr>
          <p:cNvSpPr/>
          <p:nvPr/>
        </p:nvSpPr>
        <p:spPr>
          <a:xfrm flipH="1" flipV="1">
            <a:off x="2651239" y="3188587"/>
            <a:ext cx="303636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BBDBBE-BFC2-0CCA-B625-42FA3046873D}"/>
              </a:ext>
            </a:extLst>
          </p:cNvPr>
          <p:cNvSpPr/>
          <p:nvPr/>
        </p:nvSpPr>
        <p:spPr>
          <a:xfrm flipH="1" flipV="1">
            <a:off x="2803639" y="3348733"/>
            <a:ext cx="303636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96CAFD-BCD6-9A99-E8B2-7420D6876622}"/>
              </a:ext>
            </a:extLst>
          </p:cNvPr>
          <p:cNvSpPr/>
          <p:nvPr/>
        </p:nvSpPr>
        <p:spPr>
          <a:xfrm flipH="1" flipV="1">
            <a:off x="1917469" y="3522449"/>
            <a:ext cx="303636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  <a:scene3d>
            <a:camera prst="orthographicFront">
              <a:rot lat="0" lon="0" rev="90000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72D63-F12C-F3AA-D1BC-27FF515E06AF}"/>
              </a:ext>
            </a:extLst>
          </p:cNvPr>
          <p:cNvSpPr/>
          <p:nvPr/>
        </p:nvSpPr>
        <p:spPr>
          <a:xfrm flipH="1" flipV="1">
            <a:off x="1895941" y="3378640"/>
            <a:ext cx="303638" cy="115231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66FC95-EAD2-E393-73D1-F852CBC10F1E}"/>
              </a:ext>
            </a:extLst>
          </p:cNvPr>
          <p:cNvSpPr/>
          <p:nvPr/>
        </p:nvSpPr>
        <p:spPr>
          <a:xfrm flipH="1" flipV="1">
            <a:off x="3102318" y="3007546"/>
            <a:ext cx="303636" cy="45719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326638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66E40-D5B8-8449-7A03-1745F25E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F887935C-D141-532B-89E5-CD4A2E09A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B6CB941-3658-8E25-EE96-8CFA9D0B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E26E5B-81B2-2894-ABDA-5575438A2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ABCC88B-5E4D-15BC-381E-7AEA81EEB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815A66-ECF9-40B8-868E-151DB21A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183" y="207554"/>
            <a:ext cx="8411630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Primer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encreuament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evitat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2D4C3131-3262-3035-2970-FE6CA22E6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4674" y="2165671"/>
            <a:ext cx="7636066" cy="352609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6D06CB-ED96-310E-8EE7-854EB661D60D}"/>
              </a:ext>
            </a:extLst>
          </p:cNvPr>
          <p:cNvSpPr txBox="1"/>
          <p:nvPr/>
        </p:nvSpPr>
        <p:spPr>
          <a:xfrm>
            <a:off x="7356064" y="5868458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9</a:t>
            </a:r>
          </a:p>
        </p:txBody>
      </p:sp>
      <p:pic>
        <p:nvPicPr>
          <p:cNvPr id="5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041D935-A99A-BC64-D28C-27AF94370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88" y="2651552"/>
            <a:ext cx="3980986" cy="26521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696120-6D47-C2EB-FDE7-2E1CBFE0A8C2}"/>
              </a:ext>
            </a:extLst>
          </p:cNvPr>
          <p:cNvSpPr/>
          <p:nvPr/>
        </p:nvSpPr>
        <p:spPr>
          <a:xfrm>
            <a:off x="831273" y="2718079"/>
            <a:ext cx="3510743" cy="546378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08022-5ECA-3FFF-38B5-1428E6F2EB81}"/>
              </a:ext>
            </a:extLst>
          </p:cNvPr>
          <p:cNvSpPr/>
          <p:nvPr/>
        </p:nvSpPr>
        <p:spPr>
          <a:xfrm>
            <a:off x="788324" y="3927764"/>
            <a:ext cx="3510743" cy="689627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DA23F-2A04-705F-EF40-D3DA5F9B0CE3}"/>
              </a:ext>
            </a:extLst>
          </p:cNvPr>
          <p:cNvSpPr/>
          <p:nvPr/>
        </p:nvSpPr>
        <p:spPr>
          <a:xfrm>
            <a:off x="2356338" y="3264456"/>
            <a:ext cx="1942730" cy="523341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066A82-2955-41CF-3C6B-603B3CE7C60D}"/>
              </a:ext>
            </a:extLst>
          </p:cNvPr>
          <p:cNvSpPr/>
          <p:nvPr/>
        </p:nvSpPr>
        <p:spPr>
          <a:xfrm>
            <a:off x="831273" y="3331873"/>
            <a:ext cx="771439" cy="523341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0762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E6AFA-3F2D-E36F-A858-EC758B5F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B60F9681-035C-0E2C-7317-7F574E03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518619-15C7-3E60-6EFD-11EB85CE3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3B1FA73-AE49-3C09-4BB9-C399D050A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0393AC-7614-6104-7591-FC729F67D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976D2D2E-FF4E-D117-3B57-473166AC77E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04980" y="207554"/>
                <a:ext cx="10182033" cy="1159200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Autofuncions dels modes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ràpids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i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lents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,</a:t>
                </a:r>
                <a:b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</a:b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aprop del primer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encreuament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evitat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40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sz="40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~ 1</m:t>
                    </m:r>
                  </m:oMath>
                </a14:m>
                <a:endParaRPr lang="en-US" sz="4000" kern="1200" dirty="0">
                  <a:solidFill>
                    <a:srgbClr val="FFFFFF"/>
                  </a:solidFill>
                  <a:latin typeface="LM Roman 10" pitchFamily="2" charset="77"/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976D2D2E-FF4E-D117-3B57-473166AC7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04980" y="207554"/>
                <a:ext cx="10182033" cy="1159200"/>
              </a:xfrm>
              <a:blipFill>
                <a:blip r:embed="rId2"/>
                <a:stretch>
                  <a:fillRect l="-1496" t="-16304" r="-125" b="-25000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function&#10;&#10;AI-generated content may be incorrect.">
            <a:extLst>
              <a:ext uri="{FF2B5EF4-FFF2-40B4-BE49-F238E27FC236}">
                <a16:creationId xmlns:a16="http://schemas.microsoft.com/office/drawing/2014/main" id="{12695584-0581-4F4B-59CE-A3E244EFB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95030" y="1758796"/>
            <a:ext cx="7185723" cy="4437695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F768A8-B67F-46DC-9093-B72F2CCA269B}"/>
              </a:ext>
            </a:extLst>
          </p:cNvPr>
          <p:cNvSpPr txBox="1"/>
          <p:nvPr/>
        </p:nvSpPr>
        <p:spPr>
          <a:xfrm>
            <a:off x="7502188" y="6278943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10</a:t>
            </a:r>
          </a:p>
        </p:txBody>
      </p:sp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EE4972E2-5F6A-B2B0-2F60-87CDB5258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30" y="2896833"/>
            <a:ext cx="4681171" cy="216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7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78E72-33E2-39FE-2F24-0087C8F5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7. Conclusions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A2BB7-374C-9D0C-7668-62C3AA6923A4}"/>
              </a:ext>
            </a:extLst>
          </p:cNvPr>
          <p:cNvSpPr txBox="1"/>
          <p:nvPr/>
        </p:nvSpPr>
        <p:spPr>
          <a:xfrm>
            <a:off x="523057" y="5836657"/>
            <a:ext cx="11223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LM Roman 10" pitchFamily="2" charset="77"/>
              </a:rPr>
              <a:t>6. Les </a:t>
            </a:r>
            <a:r>
              <a:rPr lang="en-GB" sz="2000" dirty="0" err="1">
                <a:latin typeface="LM Roman 10" pitchFamily="2" charset="77"/>
              </a:rPr>
              <a:t>equacions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desacoblen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el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problema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segons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els</a:t>
            </a:r>
            <a:r>
              <a:rPr lang="en-GB" sz="2000" dirty="0">
                <a:latin typeface="LM Roman 10" pitchFamily="2" charset="77"/>
              </a:rPr>
              <a:t> modes </a:t>
            </a:r>
            <a:r>
              <a:rPr lang="en-GB" sz="2000" dirty="0" err="1">
                <a:latin typeface="LM Roman 10" pitchFamily="2" charset="77"/>
              </a:rPr>
              <a:t>d’Alfvén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i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els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ràpids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i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lents</a:t>
            </a:r>
            <a:r>
              <a:rPr lang="en-GB" sz="2000" dirty="0">
                <a:latin typeface="LM Roman 10" pitchFamily="2" charset="77"/>
              </a:rPr>
              <a:t> degut a que </a:t>
            </a:r>
          </a:p>
          <a:p>
            <a:r>
              <a:rPr lang="en-GB" sz="2000" dirty="0">
                <a:latin typeface="LM Roman 10" pitchFamily="2" charset="77"/>
              </a:rPr>
              <a:t>    camp </a:t>
            </a:r>
            <a:r>
              <a:rPr lang="en-GB" sz="2000" dirty="0" err="1">
                <a:latin typeface="LM Roman 10" pitchFamily="2" charset="77"/>
              </a:rPr>
              <a:t>magnètic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és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exactament</a:t>
            </a:r>
            <a:r>
              <a:rPr lang="en-GB" sz="2000" dirty="0">
                <a:latin typeface="LM Roman 10" pitchFamily="2" charset="77"/>
              </a:rPr>
              <a:t> perpendicular a la </a:t>
            </a:r>
            <a:r>
              <a:rPr lang="en-GB" sz="2000" dirty="0" err="1">
                <a:latin typeface="LM Roman 10" pitchFamily="2" charset="77"/>
              </a:rPr>
              <a:t>protuberància</a:t>
            </a:r>
            <a:r>
              <a:rPr lang="en-GB" sz="2000" dirty="0">
                <a:latin typeface="LM Roman 10" pitchFamily="2" charset="77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1D39F-C4CB-C426-5E13-DEBA6307CAE3}"/>
              </a:ext>
            </a:extLst>
          </p:cNvPr>
          <p:cNvSpPr txBox="1"/>
          <p:nvPr/>
        </p:nvSpPr>
        <p:spPr>
          <a:xfrm>
            <a:off x="523057" y="5239390"/>
            <a:ext cx="11223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>
                <a:latin typeface="LM Roman 10" pitchFamily="2" charset="77"/>
              </a:rPr>
              <a:t>5. </a:t>
            </a:r>
            <a:r>
              <a:rPr lang="en-GB" sz="2000" dirty="0">
                <a:latin typeface="LM Roman 10" pitchFamily="2" charset="77"/>
              </a:rPr>
              <a:t>Dedalus </a:t>
            </a:r>
            <a:r>
              <a:rPr lang="en-GB" sz="2000" dirty="0" err="1">
                <a:latin typeface="LM Roman 10" pitchFamily="2" charset="77"/>
              </a:rPr>
              <a:t>funciona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correctament</a:t>
            </a:r>
            <a:r>
              <a:rPr lang="en-GB" sz="2000" dirty="0">
                <a:latin typeface="LM Roman 10" pitchFamily="2" charset="77"/>
              </a:rPr>
              <a:t> per certs </a:t>
            </a:r>
            <a:r>
              <a:rPr lang="en-GB" sz="2000" dirty="0" err="1">
                <a:latin typeface="LM Roman 10" pitchFamily="2" charset="77"/>
              </a:rPr>
              <a:t>valors</a:t>
            </a:r>
            <a:r>
              <a:rPr lang="en-GB" sz="2000" dirty="0">
                <a:latin typeface="LM Roman 10" pitchFamily="2" charset="77"/>
              </a:rPr>
              <a:t> de les variables dels </a:t>
            </a:r>
            <a:r>
              <a:rPr lang="en-GB" sz="2000" dirty="0" err="1">
                <a:latin typeface="LM Roman 10" pitchFamily="2" charset="77"/>
              </a:rPr>
              <a:t>problemes</a:t>
            </a:r>
            <a:r>
              <a:rPr lang="en-GB" sz="2000" dirty="0">
                <a:latin typeface="LM Roman 10" pitchFamily="2" charset="77"/>
              </a:rPr>
              <a:t>.</a:t>
            </a:r>
            <a:r>
              <a:rPr lang="en-ES" sz="2000" dirty="0">
                <a:latin typeface="LM Roman 10" pitchFamily="2" charset="7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00F30-D30D-900A-A7D9-B82D97F89645}"/>
              </a:ext>
            </a:extLst>
          </p:cNvPr>
          <p:cNvSpPr txBox="1"/>
          <p:nvPr/>
        </p:nvSpPr>
        <p:spPr>
          <a:xfrm>
            <a:off x="459350" y="1921171"/>
            <a:ext cx="11287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>
                <a:latin typeface="LM Roman 10" pitchFamily="2" charset="77"/>
              </a:rPr>
              <a:t>1. Les solucions d’Alfvén són semblants a les d’una corda amb estructura.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75FC72-B0CD-5B8D-825D-79A3B5A10604}"/>
              </a:ext>
            </a:extLst>
          </p:cNvPr>
          <p:cNvSpPr txBox="1"/>
          <p:nvPr/>
        </p:nvSpPr>
        <p:spPr>
          <a:xfrm>
            <a:off x="544297" y="4334347"/>
            <a:ext cx="11223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LM Roman 10" pitchFamily="2" charset="77"/>
              </a:rPr>
              <a:t>4. Els </a:t>
            </a:r>
            <a:r>
              <a:rPr lang="en-GB" sz="2000" dirty="0" err="1">
                <a:latin typeface="LM Roman 10" pitchFamily="2" charset="77"/>
              </a:rPr>
              <a:t>encreuaments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evitats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impliquen</a:t>
            </a:r>
            <a:r>
              <a:rPr lang="en-GB" sz="2000" dirty="0">
                <a:latin typeface="LM Roman 10" pitchFamily="2" charset="77"/>
              </a:rPr>
              <a:t> un </a:t>
            </a:r>
            <a:r>
              <a:rPr lang="en-GB" sz="2000" dirty="0" err="1">
                <a:latin typeface="LM Roman 10" pitchFamily="2" charset="77"/>
              </a:rPr>
              <a:t>canvi</a:t>
            </a:r>
            <a:r>
              <a:rPr lang="en-GB" sz="2000" dirty="0">
                <a:latin typeface="LM Roman 10" pitchFamily="2" charset="77"/>
              </a:rPr>
              <a:t> de </a:t>
            </a:r>
            <a:r>
              <a:rPr lang="en-GB" sz="2000" dirty="0" err="1">
                <a:latin typeface="LM Roman 10" pitchFamily="2" charset="77"/>
              </a:rPr>
              <a:t>comportament</a:t>
            </a:r>
            <a:r>
              <a:rPr lang="en-GB" sz="2000" dirty="0">
                <a:latin typeface="LM Roman 10" pitchFamily="2" charset="77"/>
              </a:rPr>
              <a:t> de les </a:t>
            </a:r>
            <a:r>
              <a:rPr lang="en-GB" sz="2000" dirty="0" err="1">
                <a:latin typeface="LM Roman 10" pitchFamily="2" charset="77"/>
              </a:rPr>
              <a:t>autofuncions</a:t>
            </a:r>
            <a:r>
              <a:rPr lang="en-GB" sz="2000" dirty="0">
                <a:latin typeface="LM Roman 10" pitchFamily="2" charset="77"/>
              </a:rPr>
              <a:t> dels modes </a:t>
            </a:r>
          </a:p>
          <a:p>
            <a:r>
              <a:rPr lang="en-GB" sz="2000" dirty="0">
                <a:latin typeface="LM Roman 10" pitchFamily="2" charset="77"/>
              </a:rPr>
              <a:t>    </a:t>
            </a:r>
            <a:r>
              <a:rPr lang="en-GB" sz="2000" dirty="0" err="1">
                <a:latin typeface="LM Roman 10" pitchFamily="2" charset="77"/>
              </a:rPr>
              <a:t>afectats</a:t>
            </a:r>
            <a:r>
              <a:rPr lang="en-GB" sz="2000" dirty="0">
                <a:latin typeface="LM Roman 10" pitchFamily="2" charset="7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80EA0-2396-5086-3845-301EBC915952}"/>
              </a:ext>
            </a:extLst>
          </p:cNvPr>
          <p:cNvSpPr txBox="1"/>
          <p:nvPr/>
        </p:nvSpPr>
        <p:spPr>
          <a:xfrm>
            <a:off x="459350" y="2518742"/>
            <a:ext cx="11223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dirty="0">
                <a:latin typeface="LM Roman 10" pitchFamily="2" charset="77"/>
              </a:rPr>
              <a:t>2. En els modes lents domina l’autofunció paral·lela al camp magnètic transversal en l’equilibri </a:t>
            </a:r>
          </a:p>
          <a:p>
            <a:r>
              <a:rPr lang="en-ES" sz="2000" dirty="0">
                <a:latin typeface="LM Roman 10" pitchFamily="2" charset="77"/>
              </a:rPr>
              <a:t>    mentre que en els modes ràpids la perpendicular.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2DF74-7B93-4143-7455-5C2D4EAB3DE7}"/>
              </a:ext>
            </a:extLst>
          </p:cNvPr>
          <p:cNvSpPr txBox="1"/>
          <p:nvPr/>
        </p:nvSpPr>
        <p:spPr>
          <a:xfrm>
            <a:off x="459349" y="3429304"/>
            <a:ext cx="11223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LM Roman 10" pitchFamily="2" charset="77"/>
              </a:rPr>
              <a:t>3. El primer mode </a:t>
            </a:r>
            <a:r>
              <a:rPr lang="en-GB" sz="2000" dirty="0" err="1">
                <a:latin typeface="LM Roman 10" pitchFamily="2" charset="77"/>
              </a:rPr>
              <a:t>ràpid</a:t>
            </a:r>
            <a:r>
              <a:rPr lang="en-GB" sz="2000" dirty="0">
                <a:latin typeface="LM Roman 10" pitchFamily="2" charset="77"/>
              </a:rPr>
              <a:t> es </a:t>
            </a:r>
            <a:r>
              <a:rPr lang="en-GB" sz="2000" dirty="0" err="1">
                <a:latin typeface="LM Roman 10" pitchFamily="2" charset="77"/>
              </a:rPr>
              <a:t>veu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més</a:t>
            </a:r>
            <a:r>
              <a:rPr lang="en-GB" sz="2000" dirty="0">
                <a:latin typeface="LM Roman 10" pitchFamily="2" charset="77"/>
              </a:rPr>
              <a:t> </a:t>
            </a:r>
            <a:r>
              <a:rPr lang="en-GB" sz="2000" dirty="0" err="1">
                <a:latin typeface="LM Roman 10" pitchFamily="2" charset="77"/>
              </a:rPr>
              <a:t>afectat</a:t>
            </a:r>
            <a:r>
              <a:rPr lang="en-GB" sz="2000" dirty="0">
                <a:latin typeface="LM Roman 10" pitchFamily="2" charset="77"/>
              </a:rPr>
              <a:t> pel </a:t>
            </a:r>
            <a:r>
              <a:rPr lang="en-GB" sz="2000" dirty="0" err="1">
                <a:latin typeface="LM Roman 10" pitchFamily="2" charset="77"/>
              </a:rPr>
              <a:t>canvi</a:t>
            </a:r>
            <a:r>
              <a:rPr lang="en-GB" sz="2000" dirty="0">
                <a:latin typeface="LM Roman 10" pitchFamily="2" charset="77"/>
              </a:rPr>
              <a:t> de la constant </a:t>
            </a:r>
            <a:r>
              <a:rPr lang="en-GB" sz="2000" dirty="0" err="1">
                <a:latin typeface="LM Roman 10" pitchFamily="2" charset="77"/>
              </a:rPr>
              <a:t>d’acoblament</a:t>
            </a:r>
            <a:r>
              <a:rPr lang="en-GB" sz="2000" dirty="0">
                <a:latin typeface="LM Roman 10" pitchFamily="2" charset="77"/>
              </a:rPr>
              <a:t> que </a:t>
            </a:r>
            <a:r>
              <a:rPr lang="en-GB" sz="2000" dirty="0" err="1">
                <a:latin typeface="LM Roman 10" pitchFamily="2" charset="77"/>
              </a:rPr>
              <a:t>el</a:t>
            </a:r>
            <a:r>
              <a:rPr lang="en-GB" sz="2000" dirty="0">
                <a:latin typeface="LM Roman 10" pitchFamily="2" charset="77"/>
              </a:rPr>
              <a:t> primer</a:t>
            </a:r>
          </a:p>
          <a:p>
            <a:r>
              <a:rPr lang="en-GB" sz="2000" dirty="0">
                <a:latin typeface="LM Roman 10" pitchFamily="2" charset="77"/>
              </a:rPr>
              <a:t>   mode lent.</a:t>
            </a:r>
          </a:p>
        </p:txBody>
      </p:sp>
    </p:spTree>
    <p:extLst>
      <p:ext uri="{BB962C8B-B14F-4D97-AF65-F5344CB8AC3E}">
        <p14:creationId xmlns:p14="http://schemas.microsoft.com/office/powerpoint/2010/main" val="189938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A close-up of a sun&#10;&#10;AI-generated content may be incorrect.">
            <a:extLst>
              <a:ext uri="{FF2B5EF4-FFF2-40B4-BE49-F238E27FC236}">
                <a16:creationId xmlns:a16="http://schemas.microsoft.com/office/drawing/2014/main" id="{0A7AA857-69D7-FE2D-A0D6-E27845E5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82" b="2696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B878-D8A1-8976-FA58-48B0F061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68969"/>
            <a:ext cx="8183880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latin typeface="LM Roman 10" pitchFamily="2" charset="77"/>
              </a:rPr>
              <a:t>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D331-B3DB-DC1B-074C-C4BEA3F59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7245" y="5768969"/>
            <a:ext cx="3399681" cy="9559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900">
                <a:latin typeface="LM Roman 10" pitchFamily="2" charset="77"/>
              </a:rPr>
              <a:t>Torn de preguntes</a:t>
            </a:r>
            <a:endParaRPr lang="en-US" sz="1900" dirty="0">
              <a:latin typeface="LM Roman 1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47807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082A8-DAD6-1D77-767A-4066D2BB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278535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ES" sz="4000" dirty="0">
                <a:solidFill>
                  <a:srgbClr val="FFFFFF"/>
                </a:solidFill>
                <a:latin typeface="LM Roman 10" pitchFamily="2" charset="77"/>
              </a:rPr>
              <a:t>3. Ones MHD lineals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3642AF-12A1-8180-3F4F-6D3258BD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489" y="3750630"/>
            <a:ext cx="5540879" cy="28254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3C8DD2-4E49-27F3-342D-9726F6CBF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344" y="2337632"/>
            <a:ext cx="6279975" cy="1602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7D303C-12D3-4EE2-7D7A-DEB40BD1A198}"/>
              </a:ext>
            </a:extLst>
          </p:cNvPr>
          <p:cNvSpPr txBox="1"/>
          <p:nvPr/>
        </p:nvSpPr>
        <p:spPr>
          <a:xfrm>
            <a:off x="1391025" y="1869276"/>
            <a:ext cx="2849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400" dirty="0">
                <a:latin typeface="LM Roman 10" pitchFamily="2" charset="77"/>
                <a:cs typeface="Times New Roman" panose="02020603050405020304" pitchFamily="18" charset="0"/>
              </a:rPr>
              <a:t>Linealització</a:t>
            </a:r>
          </a:p>
        </p:txBody>
      </p:sp>
      <p:pic>
        <p:nvPicPr>
          <p:cNvPr id="5" name="Content Placeholder 7" descr="A diagram of a graph&#10;&#10;AI-generated content may be incorrect.">
            <a:extLst>
              <a:ext uri="{FF2B5EF4-FFF2-40B4-BE49-F238E27FC236}">
                <a16:creationId xmlns:a16="http://schemas.microsoft.com/office/drawing/2014/main" id="{28871FD7-E4BF-F591-EC92-A331CFB66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540883" y="1875967"/>
            <a:ext cx="6651117" cy="428991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820CD6-3E82-7F23-A042-FABE36B94EDD}"/>
              </a:ext>
            </a:extLst>
          </p:cNvPr>
          <p:cNvSpPr txBox="1"/>
          <p:nvPr/>
        </p:nvSpPr>
        <p:spPr>
          <a:xfrm>
            <a:off x="7687346" y="5981213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2</a:t>
            </a:r>
          </a:p>
        </p:txBody>
      </p:sp>
    </p:spTree>
    <p:extLst>
      <p:ext uri="{BB962C8B-B14F-4D97-AF65-F5344CB8AC3E}">
        <p14:creationId xmlns:p14="http://schemas.microsoft.com/office/powerpoint/2010/main" val="181354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CEF8-0286-8B80-74B6-394DC12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D054E92-5372-87A8-F164-6F5BC01B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51E922-B94B-B776-04EA-8F4D8675C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8E46FC-206C-9EAD-90D2-5B2F6FC89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44BC74-514E-8B4A-990B-73EA25DB4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B18472-8889-7601-104B-41CDA6D9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B6EEC3-F7CC-10E8-7689-5B83CC346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83" y="1723499"/>
            <a:ext cx="10753428" cy="485596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C025D4-7377-7341-12FE-EA8D0B8AEEE0}"/>
              </a:ext>
            </a:extLst>
          </p:cNvPr>
          <p:cNvSpPr txBox="1">
            <a:spLocks/>
          </p:cNvSpPr>
          <p:nvPr/>
        </p:nvSpPr>
        <p:spPr>
          <a:xfrm>
            <a:off x="1148022" y="278535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ES" sz="4000">
                <a:solidFill>
                  <a:srgbClr val="FFFFFF"/>
                </a:solidFill>
                <a:latin typeface="LM Roman 10" pitchFamily="2" charset="77"/>
              </a:rPr>
              <a:t>3. Ones MHD lineals</a:t>
            </a:r>
            <a:endParaRPr lang="en-ES" sz="4000" dirty="0">
              <a:solidFill>
                <a:srgbClr val="FFFFFF"/>
              </a:solidFill>
              <a:latin typeface="LM Roman 1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3477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D9CC2-DBC1-52AA-8C3A-EFBE1CD4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A7D17D-D277-351F-A073-AC419DB2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882479-2881-5E68-5BF2-0E2771688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B205F-6188-C3F4-B9A8-91B88DEFD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C6DB2F-2295-1AA4-8028-7CE786888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D0BF32-0FD4-FE7C-EEA2-8EFD2AD6B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D42651E8-C1A4-9DD5-490C-50A0361CCDD7}"/>
              </a:ext>
            </a:extLst>
          </p:cNvPr>
          <p:cNvSpPr/>
          <p:nvPr/>
        </p:nvSpPr>
        <p:spPr>
          <a:xfrm>
            <a:off x="3495935" y="3717636"/>
            <a:ext cx="1076065" cy="24476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32BDB-5321-A123-00C0-60595342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071" y="2171641"/>
            <a:ext cx="9150857" cy="32304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8D34BF5-D189-7ACD-390F-919EDFE8AB56}"/>
              </a:ext>
            </a:extLst>
          </p:cNvPr>
          <p:cNvSpPr txBox="1">
            <a:spLocks/>
          </p:cNvSpPr>
          <p:nvPr/>
        </p:nvSpPr>
        <p:spPr>
          <a:xfrm>
            <a:off x="1148022" y="278535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ES" sz="4000">
                <a:solidFill>
                  <a:srgbClr val="FFFFFF"/>
                </a:solidFill>
                <a:latin typeface="LM Roman 10" pitchFamily="2" charset="77"/>
              </a:rPr>
              <a:t>3. Ones MHD lineals</a:t>
            </a:r>
            <a:endParaRPr lang="en-ES" sz="40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4CF0A3-1E12-4842-8EFA-5368F8AB8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3455" y="2917537"/>
            <a:ext cx="41148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D69EB-5945-20A0-A380-D8466E80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87266-C520-4178-E8F5-0E752309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809" y="207554"/>
            <a:ext cx="8768378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Autofuncions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dels modes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d’Alfvén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per</a:t>
            </a:r>
            <a:b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</a:b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valors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realistes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5" name="Content Placeholder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689834B-ABD8-561C-F768-5584884A7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274" y="1781864"/>
            <a:ext cx="6571448" cy="4452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A0AFD3-17E6-FAF4-FC66-0F753A80280C}"/>
              </a:ext>
            </a:extLst>
          </p:cNvPr>
          <p:cNvSpPr txBox="1"/>
          <p:nvPr/>
        </p:nvSpPr>
        <p:spPr>
          <a:xfrm>
            <a:off x="4916903" y="6234024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11</a:t>
            </a:r>
          </a:p>
        </p:txBody>
      </p:sp>
    </p:spTree>
    <p:extLst>
      <p:ext uri="{BB962C8B-B14F-4D97-AF65-F5344CB8AC3E}">
        <p14:creationId xmlns:p14="http://schemas.microsoft.com/office/powerpoint/2010/main" val="337742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60EC9-2440-643C-E760-E04F33D8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63D935-18BA-CCC3-7C01-43695831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925" y="207554"/>
            <a:ext cx="9556146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Error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relatiu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dels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autovalors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ràpids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i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lents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per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valors</a:t>
            </a:r>
            <a:r>
              <a:rPr lang="en-US" sz="4000" kern="12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LM Roman 10" pitchFamily="2" charset="77"/>
              </a:rPr>
              <a:t>realistes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5" name="Content Placeholder 22">
            <a:extLst>
              <a:ext uri="{FF2B5EF4-FFF2-40B4-BE49-F238E27FC236}">
                <a16:creationId xmlns:a16="http://schemas.microsoft.com/office/drawing/2014/main" id="{6E21475D-BDAA-5AFE-A888-B6A6ABAD4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928" y="1781864"/>
            <a:ext cx="7676139" cy="4452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399E1F-2955-EA98-F500-237F2FD6E3AF}"/>
              </a:ext>
            </a:extLst>
          </p:cNvPr>
          <p:cNvSpPr txBox="1"/>
          <p:nvPr/>
        </p:nvSpPr>
        <p:spPr>
          <a:xfrm>
            <a:off x="5073313" y="6219559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12</a:t>
            </a:r>
          </a:p>
        </p:txBody>
      </p:sp>
    </p:spTree>
    <p:extLst>
      <p:ext uri="{BB962C8B-B14F-4D97-AF65-F5344CB8AC3E}">
        <p14:creationId xmlns:p14="http://schemas.microsoft.com/office/powerpoint/2010/main" val="105721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DCB70-B6D3-7E23-48F8-A31582C0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D3B5C06-A4E8-A881-3617-FF279B2D8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1FD8B9-A567-1BA3-0A36-2456C900E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2C864D-AE0D-42E8-23EC-563632936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004EB1-A14E-FAB5-6204-7A8A391D0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D451B1-2B73-1314-E093-C4E428AE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50" y="209699"/>
            <a:ext cx="9282895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Autofuncions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dels modes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ràpids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i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lents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per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valors</a:t>
            </a: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LM Roman 10" pitchFamily="2" charset="77"/>
              </a:rPr>
              <a:t>realistes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16" name="Content Placeholder 15" descr="A graph of a function&#10;&#10;AI-generated content may be incorrect.">
            <a:extLst>
              <a:ext uri="{FF2B5EF4-FFF2-40B4-BE49-F238E27FC236}">
                <a16:creationId xmlns:a16="http://schemas.microsoft.com/office/drawing/2014/main" id="{5624360B-401C-0F54-579A-501485EDA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671" y="1784009"/>
            <a:ext cx="6936651" cy="435133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C9A53-117E-6D1E-8046-3E114A0E7A67}"/>
              </a:ext>
            </a:extLst>
          </p:cNvPr>
          <p:cNvSpPr txBox="1"/>
          <p:nvPr/>
        </p:nvSpPr>
        <p:spPr>
          <a:xfrm>
            <a:off x="5073313" y="6219559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13</a:t>
            </a:r>
          </a:p>
        </p:txBody>
      </p:sp>
    </p:spTree>
    <p:extLst>
      <p:ext uri="{BB962C8B-B14F-4D97-AF65-F5344CB8AC3E}">
        <p14:creationId xmlns:p14="http://schemas.microsoft.com/office/powerpoint/2010/main" val="133095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6FE97-AD74-3D12-7F7B-FAE4C4A8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AA528E5-DDE3-7CDB-D471-097EB5620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47922C-2C57-75A0-A457-F8EA9B246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DD0C6D-A573-10FB-A849-B20C90A10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EA0897-3E4A-FDE7-D791-1640B6906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2C5B29B1-C91D-4E91-42A1-3788F31B95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04980" y="207554"/>
                <a:ext cx="10182033" cy="1159200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Evolució de les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autofuncions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del mode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fHL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,</a:t>
                </a:r>
                <a:b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</a:b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en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</a:t>
                </a:r>
                <a:r>
                  <a:rPr lang="en-US" sz="4000" dirty="0" err="1">
                    <a:solidFill>
                      <a:srgbClr val="FFFFFF"/>
                    </a:solidFill>
                    <a:latin typeface="LM Roman 10" pitchFamily="2" charset="77"/>
                  </a:rPr>
                  <a:t>funció</a:t>
                </a:r>
                <a:r>
                  <a:rPr lang="en-US" sz="4000" dirty="0">
                    <a:solidFill>
                      <a:srgbClr val="FFFFFF"/>
                    </a:solidFill>
                    <a:latin typeface="LM Roman 10" pitchFamily="2" charset="77"/>
                  </a:rPr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sz="4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sz="4000" kern="1200" dirty="0">
                  <a:solidFill>
                    <a:srgbClr val="FFFFFF"/>
                  </a:solidFill>
                  <a:latin typeface="LM Roman 10" pitchFamily="2" charset="77"/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2C5B29B1-C91D-4E91-42A1-3788F31B9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04980" y="207554"/>
                <a:ext cx="10182033" cy="1159200"/>
              </a:xfrm>
              <a:blipFill>
                <a:blip r:embed="rId2"/>
                <a:stretch>
                  <a:fillRect l="-499" t="-16304" r="-499" b="-25000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function&#10;&#10;AI-generated content may be incorrect.">
            <a:extLst>
              <a:ext uri="{FF2B5EF4-FFF2-40B4-BE49-F238E27FC236}">
                <a16:creationId xmlns:a16="http://schemas.microsoft.com/office/drawing/2014/main" id="{AD6CB5F6-4C0F-C87F-9505-93BDD9B98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8170" y="1781864"/>
            <a:ext cx="6881336" cy="4391561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D6D676-2DFB-9B28-4D56-7DE0E6C00E69}"/>
              </a:ext>
            </a:extLst>
          </p:cNvPr>
          <p:cNvSpPr txBox="1"/>
          <p:nvPr/>
        </p:nvSpPr>
        <p:spPr>
          <a:xfrm>
            <a:off x="7349743" y="6219559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14</a:t>
            </a:r>
          </a:p>
        </p:txBody>
      </p:sp>
      <p:pic>
        <p:nvPicPr>
          <p:cNvPr id="3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175EEB3-C5C8-DABD-6E59-4F211CB7E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88" y="2651552"/>
            <a:ext cx="3980986" cy="26521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2BE007-0C47-FA9C-7452-DF4461E3048C}"/>
              </a:ext>
            </a:extLst>
          </p:cNvPr>
          <p:cNvSpPr/>
          <p:nvPr/>
        </p:nvSpPr>
        <p:spPr>
          <a:xfrm>
            <a:off x="796019" y="2714105"/>
            <a:ext cx="3503975" cy="1656984"/>
          </a:xfrm>
          <a:prstGeom prst="rect">
            <a:avLst/>
          </a:prstGeom>
          <a:solidFill>
            <a:schemeClr val="lt1">
              <a:alpha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5620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07543-59EB-46C8-02E4-A0920099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065EDF1-4AC3-59E7-E281-44003C603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A0F9E9-CE13-CBEE-9330-DF81DC83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6060D89-3EF8-687B-521B-9E9A7EF93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F05A50C-DD17-7637-40D6-3EB148F9F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B6EED4-55E2-7C8F-838F-E8D3EF4B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183" y="207554"/>
            <a:ext cx="8411630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LM Roman 10" pitchFamily="2" charset="77"/>
              </a:rPr>
              <a:t>Mode normal n = 5</a:t>
            </a:r>
            <a:endParaRPr lang="en-US" sz="4000" kern="1200" dirty="0">
              <a:solidFill>
                <a:srgbClr val="FFFFFF"/>
              </a:solidFill>
              <a:latin typeface="LM Roman 10" pitchFamily="2" charset="77"/>
            </a:endParaRPr>
          </a:p>
        </p:txBody>
      </p:sp>
      <p:pic>
        <p:nvPicPr>
          <p:cNvPr id="7" name="Content Placeholder 6" descr="A graph of a graph&#10;&#10;AI-generated content may be incorrect.">
            <a:extLst>
              <a:ext uri="{FF2B5EF4-FFF2-40B4-BE49-F238E27FC236}">
                <a16:creationId xmlns:a16="http://schemas.microsoft.com/office/drawing/2014/main" id="{6047328C-3CC1-806D-9AD5-872E1ADE7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051" y="1781864"/>
            <a:ext cx="6423894" cy="435133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F654F0-C546-C733-5798-255669DEEC9B}"/>
              </a:ext>
            </a:extLst>
          </p:cNvPr>
          <p:cNvSpPr txBox="1"/>
          <p:nvPr/>
        </p:nvSpPr>
        <p:spPr>
          <a:xfrm>
            <a:off x="5229724" y="6211917"/>
            <a:ext cx="2358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200" dirty="0">
                <a:latin typeface="LM Roman 10" pitchFamily="2" charset="77"/>
              </a:rPr>
              <a:t>Figura 15</a:t>
            </a:r>
          </a:p>
        </p:txBody>
      </p:sp>
    </p:spTree>
    <p:extLst>
      <p:ext uri="{BB962C8B-B14F-4D97-AF65-F5344CB8AC3E}">
        <p14:creationId xmlns:p14="http://schemas.microsoft.com/office/powerpoint/2010/main" val="152229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3838</TotalTime>
  <Words>770</Words>
  <Application>Microsoft Office PowerPoint</Application>
  <PresentationFormat>Widescreen</PresentationFormat>
  <Paragraphs>106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ONES MAGNETOHIDRODINÀMIQUES EN UN MEDI ACOTAT USANT DEDALUS</vt:lpstr>
      <vt:lpstr>Índex</vt:lpstr>
      <vt:lpstr>1. Simplificació del sistema</vt:lpstr>
      <vt:lpstr>2. Equacions MHD ideal</vt:lpstr>
      <vt:lpstr>3. Ones MHD lineals</vt:lpstr>
      <vt:lpstr>3. Ones MHD lineals</vt:lpstr>
      <vt:lpstr>4. Solucions</vt:lpstr>
      <vt:lpstr>5. Mètode</vt:lpstr>
      <vt:lpstr>5. Mètode</vt:lpstr>
      <vt:lpstr>5. Mètode</vt:lpstr>
      <vt:lpstr>6. Anàlisi de resultats</vt:lpstr>
      <vt:lpstr>Error relatiu dels autovalors dels modes d’Alfvén per valors realistes</vt:lpstr>
      <vt:lpstr>6.1. Modes d’Alfvén</vt:lpstr>
      <vt:lpstr>Error relatiu dels autovalors dels modes d’Alfvén</vt:lpstr>
      <vt:lpstr>Autofuncions dels modes d’Alfvén</vt:lpstr>
      <vt:lpstr>6.2. Modes ràpids i lents</vt:lpstr>
      <vt:lpstr>Diagrama de dispersió dels modes ràpids i lents</vt:lpstr>
      <vt:lpstr>Autofuncions dels modes ràpids i lents, k_z=0.01</vt:lpstr>
      <vt:lpstr>Evolució de les autofuncions del mode fHR, en funció de k_z</vt:lpstr>
      <vt:lpstr>Primer encreuament evitat</vt:lpstr>
      <vt:lpstr>Autofuncions dels modes ràpids i lents, aprop del primer encreuament evitat, k_z  ~ 1</vt:lpstr>
      <vt:lpstr>7. Conclusions</vt:lpstr>
      <vt:lpstr>FI</vt:lpstr>
      <vt:lpstr>3. Ones MHD lineals</vt:lpstr>
      <vt:lpstr>PowerPoint Presentation</vt:lpstr>
      <vt:lpstr>PowerPoint Presentation</vt:lpstr>
      <vt:lpstr>Autofuncions dels modes d’Alfvén per valors realistes</vt:lpstr>
      <vt:lpstr>Error relatiu dels autovalors ràpids i lents per valors realistes</vt:lpstr>
      <vt:lpstr>Autofuncions dels modes ràpids i lents per valors realistes</vt:lpstr>
      <vt:lpstr>Evolució de les autofuncions del mode fHL, en funció de k_z</vt:lpstr>
      <vt:lpstr>Mode normal n =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Ribot Oliver</dc:creator>
  <cp:lastModifiedBy>Joan Ribot Oliver</cp:lastModifiedBy>
  <cp:revision>4</cp:revision>
  <dcterms:created xsi:type="dcterms:W3CDTF">2025-06-13T14:36:06Z</dcterms:created>
  <dcterms:modified xsi:type="dcterms:W3CDTF">2025-06-18T21:43:49Z</dcterms:modified>
</cp:coreProperties>
</file>